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82" r:id="rId2"/>
    <p:sldId id="269" r:id="rId3"/>
    <p:sldId id="332" r:id="rId4"/>
    <p:sldId id="335" r:id="rId5"/>
    <p:sldId id="292" r:id="rId6"/>
    <p:sldId id="338" r:id="rId7"/>
    <p:sldId id="339" r:id="rId8"/>
    <p:sldId id="334" r:id="rId9"/>
    <p:sldId id="341" r:id="rId10"/>
    <p:sldId id="342" r:id="rId11"/>
    <p:sldId id="333" r:id="rId12"/>
    <p:sldId id="344" r:id="rId13"/>
    <p:sldId id="336" r:id="rId14"/>
    <p:sldId id="26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D6B"/>
    <a:srgbClr val="FFAEFF"/>
    <a:srgbClr val="F9EF79"/>
    <a:srgbClr val="00E33D"/>
    <a:srgbClr val="D0D029"/>
    <a:srgbClr val="009D97"/>
    <a:srgbClr val="F4FF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548"/>
  </p:normalViewPr>
  <p:slideViewPr>
    <p:cSldViewPr snapToGrid="0">
      <p:cViewPr varScale="1">
        <p:scale>
          <a:sx n="105" d="100"/>
          <a:sy n="105" d="100"/>
        </p:scale>
        <p:origin x="8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FCDCBF-E112-5843-A49E-0D7B83C778BD}" type="datetimeFigureOut">
              <a:rPr lang="en-US" smtClean="0"/>
              <a:t>12/3/25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E7C9A6-4A0E-7D48-985C-39062F49A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639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E7C9A6-4A0E-7D48-985C-39062F49A5A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4309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E7C9A6-4A0E-7D48-985C-39062F49A5A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9465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E7C9A6-4A0E-7D48-985C-39062F49A5A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2108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42EA5-3BD8-890D-90B7-D2F692F2A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566FB4-B5EB-D871-8B72-469D82481F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1E8C9-0D02-7BA7-E66A-990BC0990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D9F02-B08D-B546-B95D-3E345B9DF8BD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12DBE-5BAA-3CD4-8021-1AA7F9BFD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E68BC-BC70-D3F9-DF0A-6EED6FCDD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D0648-7653-CD43-89CE-7DE13B51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446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EE174-BE8B-6EC4-6916-421525110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89F86-DC45-38E3-13B8-17F5E1062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626DD-DC59-432C-8AE8-3B3FADC42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D9F02-B08D-B546-B95D-3E345B9DF8BD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F5172-6A72-142D-2D36-7E8454F4C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626DE-680B-4DB2-7AB8-74EB33924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D0648-7653-CD43-89CE-7DE13B51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61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DE3F0-2B84-BECC-594D-A7C8F67AA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F82245-C05B-E4E5-18C5-7005C1B9DF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508D8-8BE2-0C56-FFD3-277B089F1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D9F02-B08D-B546-B95D-3E345B9DF8BD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64E40-744B-D066-0A07-561ABCE26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6C9C0-79D0-E9FA-6EDB-9F2DA3637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D0648-7653-CD43-89CE-7DE13B51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746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B8A42-E08C-08EB-4873-89F36EBD4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DA90A-F52F-A46F-B19B-E0697F03DE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9C6712-2460-3B68-D21B-CC814BB3D0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855C4-683D-17CD-3824-CB2978483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D9F02-B08D-B546-B95D-3E345B9DF8BD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6784E-150C-61A1-156B-11DA5CF56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A8C8E7-6ED3-E2BB-0A8C-728387C9A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D0648-7653-CD43-89CE-7DE13B51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659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A3AD8-F3EE-C9DD-201E-763803DF6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667DBC-7060-8FAF-D4DB-690110694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A2926-71FE-4DA5-3F57-A6F4E130C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78F3C3-CA90-8BC3-7259-9B36FC2179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3AD807-890C-49ED-9A53-271597B368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0662B6-4AA9-0B51-B5CC-C5E1C2D7F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D9F02-B08D-B546-B95D-3E345B9DF8BD}" type="datetimeFigureOut">
              <a:rPr lang="en-US" smtClean="0"/>
              <a:t>12/3/25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AFC374-72EA-BC61-E074-FE2E9B6F2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085644-D4ED-3918-40B7-5C4EACCFA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D0648-7653-CD43-89CE-7DE13B51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221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3DD5E-CC29-0E88-D77A-918F12A5D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F6F527-EE62-95D7-FDF5-29DC60DDF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D9F02-B08D-B546-B95D-3E345B9DF8BD}" type="datetimeFigureOut">
              <a:rPr lang="en-US" smtClean="0"/>
              <a:t>12/3/25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391622-2DEF-E5A3-3BF5-86CCCA91D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F1A75A-C80E-0939-C9E7-6748D7BCE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D0648-7653-CD43-89CE-7DE13B51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356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906B01-D66A-4E43-D81C-2516E4949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D9F02-B08D-B546-B95D-3E345B9DF8BD}" type="datetimeFigureOut">
              <a:rPr lang="en-US" smtClean="0"/>
              <a:t>12/3/25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63E1A8-6D55-7CA7-EF04-1A1B10E2A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6478AF-2E19-9EE2-AB02-0C9798066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D0648-7653-CD43-89CE-7DE13B51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655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8E91D-A721-DBC6-6666-04ABA90AB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D8B37-F406-C8B9-1306-E3B214CCA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B5A25D-BB43-374E-5E25-94C9A9B034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586B72-D378-E69A-666D-167731773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D9F02-B08D-B546-B95D-3E345B9DF8BD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D5A79-20FB-7815-0CF3-C54DAB7E6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1FF6FF-9D7C-4045-A1FB-8A2F04AD7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D0648-7653-CD43-89CE-7DE13B51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361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A0A58-B0CD-BEF6-D36D-68E625DC3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FB7312-E948-1C91-7221-BA4CD1D08E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03DFD9-3F19-D4B6-7B01-9A0C6481FC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64277-3316-8A3F-8715-340E51A21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D9F02-B08D-B546-B95D-3E345B9DF8BD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3FA80-F147-7729-9B42-22A8F2F87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31E20B-CE8A-C580-DE17-DEF94C9B4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D0648-7653-CD43-89CE-7DE13B51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220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24CAB-D6AD-8E93-6E6E-80FBEF969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81DB71-483A-FEFA-B35E-AB8E45E2B9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9D200-F926-B074-87DB-A57C236AC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D9F02-B08D-B546-B95D-3E345B9DF8BD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BE6D12-4EF9-7684-A682-0668C0901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DB510-9C5E-FE54-75A6-58415A457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D0648-7653-CD43-89CE-7DE13B51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358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0E7007-3C8A-2FBA-64F4-E26584BC24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308CCC-8C2E-EA90-B66A-D2895DA190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5A8F5-F26E-329E-9F5E-DA2C4705B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D9F02-B08D-B546-B95D-3E345B9DF8BD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78D8C-9E4B-DA07-B0A1-F88C3CB16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4D3D5-25F0-D74D-0E03-D929613F4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D0648-7653-CD43-89CE-7DE13B51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641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A75BF9-761F-8482-262C-847AD3F4F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3FC4C7-2A6D-2CD8-A419-B3D5D91FD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3D620-A90D-F551-F2F1-AF12169F93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D9F02-B08D-B546-B95D-3E345B9DF8BD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EC654-C505-485F-3F65-8EA49526D1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73E1F-5D41-D85C-5F4F-B5CC05A278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BD0648-7653-CD43-89CE-7DE13B51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59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D78BD10-25B0-98FF-A6AF-9B2357C6AF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0" dirty="0">
                <a:solidFill>
                  <a:schemeClr val="bg1"/>
                </a:solidFill>
                <a:latin typeface="Gill Sans Ultra Bold" panose="020B0A02020104020203" pitchFamily="34" charset="77"/>
              </a:rPr>
              <a:t>FACIAL EMOTION DETECTION</a:t>
            </a:r>
          </a:p>
        </p:txBody>
      </p:sp>
    </p:spTree>
    <p:extLst>
      <p:ext uri="{BB962C8B-B14F-4D97-AF65-F5344CB8AC3E}">
        <p14:creationId xmlns:p14="http://schemas.microsoft.com/office/powerpoint/2010/main" val="319444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F9DB06A-C38E-CE4D-71E8-EF19B49DB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494CEA-C8EA-417A-0143-E225A473CF1B}"/>
              </a:ext>
            </a:extLst>
          </p:cNvPr>
          <p:cNvSpPr txBox="1"/>
          <p:nvPr/>
        </p:nvSpPr>
        <p:spPr>
          <a:xfrm>
            <a:off x="842212" y="705995"/>
            <a:ext cx="6581273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TEAM-</a:t>
            </a:r>
          </a:p>
          <a:p>
            <a:r>
              <a:rPr lang="en-US" sz="20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	V HARSHA VARDHAN	AP22110010677</a:t>
            </a:r>
          </a:p>
          <a:p>
            <a:r>
              <a:rPr lang="en-US" sz="20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	G Pavan Kumar		AP22110010896</a:t>
            </a:r>
          </a:p>
          <a:p>
            <a:r>
              <a:rPr lang="en-US" sz="20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					</a:t>
            </a:r>
            <a:endParaRPr lang="en-US" sz="19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endParaRPr lang="en-US" sz="20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158945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8D9123C8-C935-4081-214B-CA585D91C0F8}"/>
              </a:ext>
            </a:extLst>
          </p:cNvPr>
          <p:cNvGrpSpPr/>
          <p:nvPr/>
        </p:nvGrpSpPr>
        <p:grpSpPr>
          <a:xfrm>
            <a:off x="-4" y="-2"/>
            <a:ext cx="4609578" cy="6858001"/>
            <a:chOff x="4058429" y="0"/>
            <a:chExt cx="4609578" cy="68580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DFCE32B-2BF8-DD9D-A2A9-C13AF4E16245}"/>
                </a:ext>
              </a:extLst>
            </p:cNvPr>
            <p:cNvSpPr/>
            <p:nvPr/>
          </p:nvSpPr>
          <p:spPr>
            <a:xfrm>
              <a:off x="4058429" y="0"/>
              <a:ext cx="4200399" cy="685800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0" dirty="0">
                  <a:solidFill>
                    <a:schemeClr val="accent1">
                      <a:lumMod val="50000"/>
                    </a:schemeClr>
                  </a:solidFill>
                </a:rPr>
                <a:t>B</a:t>
              </a:r>
            </a:p>
            <a:p>
              <a:r>
                <a:rPr lang="en-IN" sz="1600" b="1" dirty="0">
                  <a:latin typeface="Trebuchet MS" panose="020B0703020202090204" pitchFamily="34" charset="0"/>
                </a:rPr>
                <a:t>Project Objective:</a:t>
              </a:r>
            </a:p>
            <a:p>
              <a:endParaRPr lang="en-IN" sz="1700" i="1" dirty="0">
                <a:latin typeface="Trebuchet MS" panose="020B070302020209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400" i="1" dirty="0">
                  <a:latin typeface="Trebuchet MS" panose="020B0703020202090204" pitchFamily="34" charset="0"/>
                </a:rPr>
                <a:t>To develop a deep learning model that accurately recognizes human emotions from facial images.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IN" sz="1400" i="1" dirty="0">
                <a:latin typeface="Trebuchet MS" panose="020B070302020209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400" i="1" dirty="0">
                  <a:latin typeface="Trebuchet MS" panose="020B0703020202090204" pitchFamily="34" charset="0"/>
                </a:rPr>
                <a:t>To extract meaningful features using a CNN and improve focus using a Spatial Transformer Network.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IN" sz="1400" i="1" dirty="0">
                <a:latin typeface="Trebuchet MS" panose="020B070302020209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400" i="1" dirty="0">
                  <a:latin typeface="Trebuchet MS" panose="020B0703020202090204" pitchFamily="34" charset="0"/>
                </a:rPr>
                <a:t>To handle real-world challenges such as occlusion, lighting variations, and pose differences.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IN" sz="1400" i="1" dirty="0">
                <a:latin typeface="Trebuchet MS" panose="020B070302020209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400" i="1" dirty="0">
                  <a:latin typeface="Trebuchet MS" panose="020B0703020202090204" pitchFamily="34" charset="0"/>
                </a:rPr>
                <a:t>To train and evaluate the model on the FER2013 dataset for reliable performance.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IN" sz="1400" i="1" dirty="0">
                <a:latin typeface="Trebuchet MS" panose="020B070302020209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400" i="1" dirty="0">
                  <a:latin typeface="Trebuchet MS" panose="020B0703020202090204" pitchFamily="34" charset="0"/>
                </a:rPr>
                <a:t>To achieve better accuracy compared to traditional and existing baseline methods.</a:t>
              </a:r>
            </a:p>
            <a:p>
              <a:endParaRPr lang="en-IN" sz="1400" i="1" dirty="0">
                <a:latin typeface="Trebuchet MS" panose="020B0703020202090204" pitchFamily="34" charset="0"/>
              </a:endParaRPr>
            </a:p>
            <a:p>
              <a:endParaRPr lang="en-IN" sz="1700" i="1" dirty="0">
                <a:latin typeface="Trebuchet MS" panose="020B0703020202090204" pitchFamily="34" charset="0"/>
              </a:endParaRPr>
            </a:p>
          </p:txBody>
        </p:sp>
        <p:sp>
          <p:nvSpPr>
            <p:cNvPr id="10" name="Triangle 9">
              <a:extLst>
                <a:ext uri="{FF2B5EF4-FFF2-40B4-BE49-F238E27FC236}">
                  <a16:creationId xmlns:a16="http://schemas.microsoft.com/office/drawing/2014/main" id="{88AAB93C-67F2-39B1-E04E-C14C917DB5F4}"/>
                </a:ext>
              </a:extLst>
            </p:cNvPr>
            <p:cNvSpPr/>
            <p:nvPr/>
          </p:nvSpPr>
          <p:spPr>
            <a:xfrm rot="5400000">
              <a:off x="7931062" y="624211"/>
              <a:ext cx="1048006" cy="425885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CFFEB74C-DF84-2F28-7AA9-B4589A319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" y="0"/>
            <a:ext cx="12192004" cy="685800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C51DEB71-F453-AA24-5E25-C4E5C67CAF1D}"/>
              </a:ext>
            </a:extLst>
          </p:cNvPr>
          <p:cNvGrpSpPr/>
          <p:nvPr/>
        </p:nvGrpSpPr>
        <p:grpSpPr>
          <a:xfrm>
            <a:off x="-4" y="-3"/>
            <a:ext cx="4359050" cy="6857999"/>
            <a:chOff x="8242126" y="1"/>
            <a:chExt cx="4359050" cy="685799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BA80772-A452-5817-95F7-F22E31409EBB}"/>
                </a:ext>
              </a:extLst>
            </p:cNvPr>
            <p:cNvSpPr/>
            <p:nvPr/>
          </p:nvSpPr>
          <p:spPr>
            <a:xfrm>
              <a:off x="8242126" y="1"/>
              <a:ext cx="3949872" cy="685799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"/>
                </a:rPr>
                <a:t>C</a:t>
              </a:r>
            </a:p>
            <a:p>
              <a:r>
                <a:rPr lang="en-US" sz="2000" dirty="0">
                  <a:solidFill>
                    <a:schemeClr val="tx1"/>
                  </a:solidFill>
                  <a:latin typeface=""/>
                </a:rPr>
                <a:t> </a:t>
              </a:r>
              <a:r>
                <a:rPr lang="en-US" sz="1600" b="1" dirty="0">
                  <a:solidFill>
                    <a:schemeClr val="tx1"/>
                  </a:solidFill>
                  <a:latin typeface="Trebuchet MS" panose="020B0703020202090204" pitchFamily="34" charset="0"/>
                </a:rPr>
                <a:t>Technology Stack:</a:t>
              </a:r>
            </a:p>
            <a:p>
              <a:endParaRPr lang="en-US" sz="1600" b="1" dirty="0">
                <a:solidFill>
                  <a:schemeClr val="tx1"/>
                </a:solidFill>
                <a:latin typeface="Trebuchet MS" panose="020B070302020209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400" i="1" dirty="0">
                  <a:solidFill>
                    <a:schemeClr val="tx1"/>
                  </a:solidFill>
                  <a:latin typeface="Trebuchet MS" panose="020B0703020202090204" pitchFamily="34" charset="0"/>
                </a:rPr>
                <a:t>Python as the primary programming language.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IN" sz="1400" i="1" dirty="0">
                <a:solidFill>
                  <a:schemeClr val="tx1"/>
                </a:solidFill>
                <a:latin typeface="Trebuchet MS" panose="020B070302020209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400" i="1" dirty="0" err="1">
                  <a:solidFill>
                    <a:schemeClr val="tx1"/>
                  </a:solidFill>
                  <a:latin typeface="Trebuchet MS" panose="020B0703020202090204" pitchFamily="34" charset="0"/>
                </a:rPr>
                <a:t>PyTorch</a:t>
              </a:r>
              <a:r>
                <a:rPr lang="en-IN" sz="1400" i="1" dirty="0">
                  <a:solidFill>
                    <a:schemeClr val="tx1"/>
                  </a:solidFill>
                  <a:latin typeface="Trebuchet MS" panose="020B0703020202090204" pitchFamily="34" charset="0"/>
                </a:rPr>
                <a:t> for building and training the deep learning model.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IN" sz="1400" i="1" dirty="0">
                <a:solidFill>
                  <a:schemeClr val="tx1"/>
                </a:solidFill>
                <a:latin typeface="Trebuchet MS" panose="020B070302020209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400" i="1" dirty="0">
                  <a:solidFill>
                    <a:schemeClr val="tx1"/>
                  </a:solidFill>
                  <a:latin typeface="Trebuchet MS" panose="020B0703020202090204" pitchFamily="34" charset="0"/>
                </a:rPr>
                <a:t>OpenCV and NumPy for image processing and data handling.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IN" sz="1400" i="1" dirty="0">
                <a:solidFill>
                  <a:schemeClr val="tx1"/>
                </a:solidFill>
                <a:latin typeface="Trebuchet MS" panose="020B070302020209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400" i="1" dirty="0">
                  <a:solidFill>
                    <a:schemeClr val="tx1"/>
                  </a:solidFill>
                  <a:latin typeface="Trebuchet MS" panose="020B0703020202090204" pitchFamily="34" charset="0"/>
                </a:rPr>
                <a:t>CNN + Spatial Transformer Network (STN) as the core model architecture.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IN" sz="1400" i="1" dirty="0">
                <a:solidFill>
                  <a:schemeClr val="tx1"/>
                </a:solidFill>
                <a:latin typeface="Trebuchet MS" panose="020B070302020209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400" i="1" dirty="0">
                  <a:solidFill>
                    <a:schemeClr val="tx1"/>
                  </a:solidFill>
                  <a:latin typeface="Trebuchet MS" panose="020B0703020202090204" pitchFamily="34" charset="0"/>
                </a:rPr>
                <a:t>FER2013 dataset with pre-processing, normalization, and evaluation tools.</a:t>
              </a:r>
            </a:p>
            <a:p>
              <a:endParaRPr lang="en-IN" sz="1700" dirty="0">
                <a:solidFill>
                  <a:schemeClr val="tx1"/>
                </a:solidFill>
              </a:endParaRPr>
            </a:p>
          </p:txBody>
        </p:sp>
        <p:sp>
          <p:nvSpPr>
            <p:cNvPr id="14" name="Triangle 13">
              <a:extLst>
                <a:ext uri="{FF2B5EF4-FFF2-40B4-BE49-F238E27FC236}">
                  <a16:creationId xmlns:a16="http://schemas.microsoft.com/office/drawing/2014/main" id="{09AC8751-FE6E-78E0-9B18-597DDFBFA53E}"/>
                </a:ext>
              </a:extLst>
            </p:cNvPr>
            <p:cNvSpPr/>
            <p:nvPr/>
          </p:nvSpPr>
          <p:spPr>
            <a:xfrm rot="5400000">
              <a:off x="11864231" y="713981"/>
              <a:ext cx="1048006" cy="425885"/>
            </a:xfrm>
            <a:prstGeom prst="triangl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19703A5-20D1-FEBA-336D-AAA49C2C1EBE}"/>
              </a:ext>
            </a:extLst>
          </p:cNvPr>
          <p:cNvGrpSpPr/>
          <p:nvPr/>
        </p:nvGrpSpPr>
        <p:grpSpPr>
          <a:xfrm>
            <a:off x="16554" y="0"/>
            <a:ext cx="4467604" cy="6858000"/>
            <a:chOff x="1" y="-1"/>
            <a:chExt cx="4467604" cy="6858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F37BA94-AA2C-13DC-357D-72FB8E9A88E4}"/>
                </a:ext>
              </a:extLst>
            </p:cNvPr>
            <p:cNvSpPr/>
            <p:nvPr/>
          </p:nvSpPr>
          <p:spPr>
            <a:xfrm>
              <a:off x="1" y="-1"/>
              <a:ext cx="4075138" cy="6858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"/>
                </a:rPr>
                <a:t>A</a:t>
              </a:r>
            </a:p>
            <a:p>
              <a:r>
                <a:rPr lang="en-IN" sz="1700" b="1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Trebuchet MS" panose="020B0703020202090204" pitchFamily="34" charset="0"/>
                </a:rPr>
                <a:t>Abstract:</a:t>
              </a:r>
            </a:p>
            <a:p>
              <a:endParaRPr lang="en-IN" sz="1700" i="1" dirty="0">
                <a:solidFill>
                  <a:schemeClr val="accent6">
                    <a:lumMod val="40000"/>
                    <a:lumOff val="60000"/>
                  </a:schemeClr>
                </a:solidFill>
                <a:latin typeface="Trebuchet MS" panose="020B0703020202090204" pitchFamily="34" charset="0"/>
              </a:endParaRPr>
            </a:p>
            <a:p>
              <a:r>
                <a:rPr lang="en-IN" sz="1600" i="1" dirty="0">
                  <a:latin typeface="Trebuchet MS" panose="020B0703020202090204" pitchFamily="34" charset="0"/>
                </a:rPr>
                <a:t>Facial emotion recognition is a challenging task due to variations in lighting, pose, occlusion, and the way individuals express emotions. Traditional hand-crafted feature methods struggle in real-world conditions, leading to the adoption of deep learning techniques. In this project, we propose a CNN-based model enhanced with a Spatial Transformer Network to focus on important facial regions such as the eyes and mouth. The model is trained on the FER2013 dataset, which contains diverse and unconstrained facial images.</a:t>
              </a:r>
              <a:endParaRPr lang="en-IN" sz="1700" i="1" dirty="0">
                <a:solidFill>
                  <a:schemeClr val="accent6">
                    <a:lumMod val="40000"/>
                    <a:lumOff val="60000"/>
                  </a:schemeClr>
                </a:solidFill>
                <a:latin typeface="Trebuchet MS" panose="020B0703020202090204" pitchFamily="34" charset="0"/>
              </a:endParaRPr>
            </a:p>
            <a:p>
              <a:endParaRPr lang="en-IN" sz="1700" i="1" dirty="0">
                <a:latin typeface="Trebuchet MS" panose="020B0703020202090204" pitchFamily="34" charset="0"/>
              </a:endParaRPr>
            </a:p>
          </p:txBody>
        </p:sp>
        <p:sp>
          <p:nvSpPr>
            <p:cNvPr id="9" name="Triangle 8">
              <a:extLst>
                <a:ext uri="{FF2B5EF4-FFF2-40B4-BE49-F238E27FC236}">
                  <a16:creationId xmlns:a16="http://schemas.microsoft.com/office/drawing/2014/main" id="{8FB905B4-32F1-98FB-2B8C-FE55622F3BB8}"/>
                </a:ext>
              </a:extLst>
            </p:cNvPr>
            <p:cNvSpPr/>
            <p:nvPr/>
          </p:nvSpPr>
          <p:spPr>
            <a:xfrm rot="5400000">
              <a:off x="3730660" y="624211"/>
              <a:ext cx="1048006" cy="425885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518239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FEB74C-DF84-2F28-7AA9-B4589A319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" y="0"/>
            <a:ext cx="12192004" cy="685800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C19703A5-20D1-FEBA-336D-AAA49C2C1EBE}"/>
              </a:ext>
            </a:extLst>
          </p:cNvPr>
          <p:cNvGrpSpPr/>
          <p:nvPr/>
        </p:nvGrpSpPr>
        <p:grpSpPr>
          <a:xfrm>
            <a:off x="1" y="-1"/>
            <a:ext cx="4467604" cy="6858000"/>
            <a:chOff x="1" y="-1"/>
            <a:chExt cx="4467604" cy="6858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F37BA94-AA2C-13DC-357D-72FB8E9A88E4}"/>
                </a:ext>
              </a:extLst>
            </p:cNvPr>
            <p:cNvSpPr/>
            <p:nvPr/>
          </p:nvSpPr>
          <p:spPr>
            <a:xfrm>
              <a:off x="1" y="-1"/>
              <a:ext cx="4075138" cy="6858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"/>
                </a:rPr>
                <a:t>A</a:t>
              </a:r>
            </a:p>
            <a:p>
              <a:r>
                <a:rPr lang="en-IN" sz="1700" b="1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Trebuchet MS" panose="020B0703020202090204" pitchFamily="34" charset="0"/>
                </a:rPr>
                <a:t>Abstract:</a:t>
              </a:r>
            </a:p>
            <a:p>
              <a:endParaRPr lang="en-IN" sz="1700" i="1" dirty="0">
                <a:solidFill>
                  <a:schemeClr val="accent6">
                    <a:lumMod val="40000"/>
                    <a:lumOff val="60000"/>
                  </a:schemeClr>
                </a:solidFill>
                <a:latin typeface="Trebuchet MS" panose="020B0703020202090204" pitchFamily="34" charset="0"/>
              </a:endParaRPr>
            </a:p>
            <a:p>
              <a:r>
                <a:rPr lang="en-IN" sz="1600" i="1" dirty="0">
                  <a:latin typeface="Trebuchet MS" panose="020B0703020202090204" pitchFamily="34" charset="0"/>
                </a:rPr>
                <a:t>Facial emotion recognition is a challenging task due to variations in lighting, pose, occlusion, and the way individuals express emotions. Traditional hand-crafted feature methods struggle in real-world conditions, leading to the adoption of deep learning techniques. In this project, we propose a CNN-based model enhanced with a Spatial Transformer Network to focus on important facial regions such as the eyes and mouth. The model is trained on the FER2013 dataset, which contains diverse and unconstrained facial images.</a:t>
              </a:r>
              <a:endParaRPr lang="en-IN" sz="1700" i="1" dirty="0">
                <a:solidFill>
                  <a:schemeClr val="accent6">
                    <a:lumMod val="40000"/>
                    <a:lumOff val="60000"/>
                  </a:schemeClr>
                </a:solidFill>
                <a:latin typeface="Trebuchet MS" panose="020B0703020202090204" pitchFamily="34" charset="0"/>
              </a:endParaRPr>
            </a:p>
            <a:p>
              <a:endParaRPr lang="en-IN" sz="1700" i="1" dirty="0">
                <a:latin typeface="Trebuchet MS" panose="020B0703020202090204" pitchFamily="34" charset="0"/>
              </a:endParaRPr>
            </a:p>
          </p:txBody>
        </p:sp>
        <p:sp>
          <p:nvSpPr>
            <p:cNvPr id="9" name="Triangle 8">
              <a:extLst>
                <a:ext uri="{FF2B5EF4-FFF2-40B4-BE49-F238E27FC236}">
                  <a16:creationId xmlns:a16="http://schemas.microsoft.com/office/drawing/2014/main" id="{8FB905B4-32F1-98FB-2B8C-FE55622F3BB8}"/>
                </a:ext>
              </a:extLst>
            </p:cNvPr>
            <p:cNvSpPr/>
            <p:nvPr/>
          </p:nvSpPr>
          <p:spPr>
            <a:xfrm rot="5400000">
              <a:off x="3730660" y="624211"/>
              <a:ext cx="1048006" cy="425885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D9123C8-C935-4081-214B-CA585D91C0F8}"/>
              </a:ext>
            </a:extLst>
          </p:cNvPr>
          <p:cNvGrpSpPr/>
          <p:nvPr/>
        </p:nvGrpSpPr>
        <p:grpSpPr>
          <a:xfrm>
            <a:off x="4058429" y="0"/>
            <a:ext cx="4609578" cy="6858001"/>
            <a:chOff x="4058429" y="0"/>
            <a:chExt cx="4609578" cy="68580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DFCE32B-2BF8-DD9D-A2A9-C13AF4E16245}"/>
                </a:ext>
              </a:extLst>
            </p:cNvPr>
            <p:cNvSpPr/>
            <p:nvPr/>
          </p:nvSpPr>
          <p:spPr>
            <a:xfrm>
              <a:off x="4058429" y="0"/>
              <a:ext cx="4200399" cy="685800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0" dirty="0">
                  <a:solidFill>
                    <a:schemeClr val="accent1">
                      <a:lumMod val="50000"/>
                    </a:schemeClr>
                  </a:solidFill>
                </a:rPr>
                <a:t>B</a:t>
              </a:r>
            </a:p>
            <a:p>
              <a:r>
                <a:rPr lang="en-IN" sz="1600" b="1" dirty="0">
                  <a:latin typeface="Trebuchet MS" panose="020B0703020202090204" pitchFamily="34" charset="0"/>
                </a:rPr>
                <a:t>Project Objective:</a:t>
              </a:r>
            </a:p>
            <a:p>
              <a:endParaRPr lang="en-IN" sz="1700" i="1" dirty="0">
                <a:latin typeface="Trebuchet MS" panose="020B070302020209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400" i="1" dirty="0">
                  <a:latin typeface="Trebuchet MS" panose="020B0703020202090204" pitchFamily="34" charset="0"/>
                </a:rPr>
                <a:t>To develop a deep learning model that accurately recognizes human emotions from facial images.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IN" sz="1400" i="1" dirty="0">
                <a:latin typeface="Trebuchet MS" panose="020B070302020209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400" i="1" dirty="0">
                  <a:latin typeface="Trebuchet MS" panose="020B0703020202090204" pitchFamily="34" charset="0"/>
                </a:rPr>
                <a:t>To extract meaningful features using a CNN and improve focus using a Spatial Transformer Network.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IN" sz="1400" i="1" dirty="0">
                <a:latin typeface="Trebuchet MS" panose="020B070302020209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400" i="1" dirty="0">
                  <a:latin typeface="Trebuchet MS" panose="020B0703020202090204" pitchFamily="34" charset="0"/>
                </a:rPr>
                <a:t>To handle real-world challenges such as occlusion, lighting variations, and pose differences.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IN" sz="1400" i="1" dirty="0">
                <a:latin typeface="Trebuchet MS" panose="020B070302020209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400" i="1" dirty="0">
                  <a:latin typeface="Trebuchet MS" panose="020B0703020202090204" pitchFamily="34" charset="0"/>
                </a:rPr>
                <a:t>To train and evaluate the model on the FER2013 dataset for reliable performance.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IN" sz="1400" i="1" dirty="0">
                <a:latin typeface="Trebuchet MS" panose="020B070302020209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400" i="1" dirty="0">
                  <a:latin typeface="Trebuchet MS" panose="020B0703020202090204" pitchFamily="34" charset="0"/>
                </a:rPr>
                <a:t>To achieve better accuracy compared to traditional and existing baseline methods.</a:t>
              </a:r>
            </a:p>
            <a:p>
              <a:endParaRPr lang="en-IN" sz="1400" i="1" dirty="0">
                <a:latin typeface="Trebuchet MS" panose="020B0703020202090204" pitchFamily="34" charset="0"/>
              </a:endParaRPr>
            </a:p>
            <a:p>
              <a:endParaRPr lang="en-IN" sz="1700" i="1" dirty="0">
                <a:latin typeface="Trebuchet MS" panose="020B0703020202090204" pitchFamily="34" charset="0"/>
              </a:endParaRPr>
            </a:p>
          </p:txBody>
        </p:sp>
        <p:sp>
          <p:nvSpPr>
            <p:cNvPr id="10" name="Triangle 9">
              <a:extLst>
                <a:ext uri="{FF2B5EF4-FFF2-40B4-BE49-F238E27FC236}">
                  <a16:creationId xmlns:a16="http://schemas.microsoft.com/office/drawing/2014/main" id="{88AAB93C-67F2-39B1-E04E-C14C917DB5F4}"/>
                </a:ext>
              </a:extLst>
            </p:cNvPr>
            <p:cNvSpPr/>
            <p:nvPr/>
          </p:nvSpPr>
          <p:spPr>
            <a:xfrm rot="5400000">
              <a:off x="7931062" y="624211"/>
              <a:ext cx="1048006" cy="425885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51DEB71-F453-AA24-5E25-C4E5C67CAF1D}"/>
              </a:ext>
            </a:extLst>
          </p:cNvPr>
          <p:cNvGrpSpPr/>
          <p:nvPr/>
        </p:nvGrpSpPr>
        <p:grpSpPr>
          <a:xfrm>
            <a:off x="8242126" y="1"/>
            <a:ext cx="4359050" cy="6857999"/>
            <a:chOff x="8242126" y="1"/>
            <a:chExt cx="4359050" cy="685799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BA80772-A452-5817-95F7-F22E31409EBB}"/>
                </a:ext>
              </a:extLst>
            </p:cNvPr>
            <p:cNvSpPr/>
            <p:nvPr/>
          </p:nvSpPr>
          <p:spPr>
            <a:xfrm>
              <a:off x="8242126" y="1"/>
              <a:ext cx="3949872" cy="685799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"/>
                </a:rPr>
                <a:t>C</a:t>
              </a:r>
            </a:p>
            <a:p>
              <a:r>
                <a:rPr lang="en-US" sz="2000" dirty="0">
                  <a:solidFill>
                    <a:schemeClr val="tx1"/>
                  </a:solidFill>
                  <a:latin typeface=""/>
                </a:rPr>
                <a:t> </a:t>
              </a:r>
              <a:r>
                <a:rPr lang="en-US" sz="1600" b="1" dirty="0">
                  <a:solidFill>
                    <a:schemeClr val="tx1"/>
                  </a:solidFill>
                  <a:latin typeface="Trebuchet MS" panose="020B0703020202090204" pitchFamily="34" charset="0"/>
                </a:rPr>
                <a:t>Technology Stack:</a:t>
              </a:r>
            </a:p>
            <a:p>
              <a:endParaRPr lang="en-US" sz="1600" b="1" dirty="0">
                <a:solidFill>
                  <a:schemeClr val="tx1"/>
                </a:solidFill>
                <a:latin typeface="Trebuchet MS" panose="020B070302020209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400" i="1" dirty="0">
                  <a:solidFill>
                    <a:schemeClr val="tx1"/>
                  </a:solidFill>
                  <a:latin typeface="Trebuchet MS" panose="020B0703020202090204" pitchFamily="34" charset="0"/>
                </a:rPr>
                <a:t>Python as the primary programming language.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IN" sz="1400" i="1" dirty="0">
                <a:solidFill>
                  <a:schemeClr val="tx1"/>
                </a:solidFill>
                <a:latin typeface="Trebuchet MS" panose="020B070302020209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400" i="1" dirty="0" err="1">
                  <a:solidFill>
                    <a:schemeClr val="tx1"/>
                  </a:solidFill>
                  <a:latin typeface="Trebuchet MS" panose="020B0703020202090204" pitchFamily="34" charset="0"/>
                </a:rPr>
                <a:t>PyTorch</a:t>
              </a:r>
              <a:r>
                <a:rPr lang="en-IN" sz="1400" i="1" dirty="0">
                  <a:solidFill>
                    <a:schemeClr val="tx1"/>
                  </a:solidFill>
                  <a:latin typeface="Trebuchet MS" panose="020B0703020202090204" pitchFamily="34" charset="0"/>
                </a:rPr>
                <a:t> for building and training the deep learning model.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IN" sz="1400" i="1" dirty="0">
                <a:solidFill>
                  <a:schemeClr val="tx1"/>
                </a:solidFill>
                <a:latin typeface="Trebuchet MS" panose="020B070302020209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400" i="1" dirty="0">
                  <a:solidFill>
                    <a:schemeClr val="tx1"/>
                  </a:solidFill>
                  <a:latin typeface="Trebuchet MS" panose="020B0703020202090204" pitchFamily="34" charset="0"/>
                </a:rPr>
                <a:t>OpenCV and NumPy for image processing and data handling.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IN" sz="1400" i="1" dirty="0">
                <a:solidFill>
                  <a:schemeClr val="tx1"/>
                </a:solidFill>
                <a:latin typeface="Trebuchet MS" panose="020B070302020209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400" i="1" dirty="0">
                  <a:solidFill>
                    <a:schemeClr val="tx1"/>
                  </a:solidFill>
                  <a:latin typeface="Trebuchet MS" panose="020B0703020202090204" pitchFamily="34" charset="0"/>
                </a:rPr>
                <a:t>CNN + Spatial Transformer Network (STN) as the core model architecture.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IN" sz="1400" i="1" dirty="0">
                <a:solidFill>
                  <a:schemeClr val="tx1"/>
                </a:solidFill>
                <a:latin typeface="Trebuchet MS" panose="020B070302020209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400" i="1" dirty="0">
                  <a:solidFill>
                    <a:schemeClr val="tx1"/>
                  </a:solidFill>
                  <a:latin typeface="Trebuchet MS" panose="020B0703020202090204" pitchFamily="34" charset="0"/>
                </a:rPr>
                <a:t>FER2013 dataset with pre-processing, normalization, and evaluation tools.</a:t>
              </a:r>
            </a:p>
            <a:p>
              <a:endParaRPr lang="en-IN" sz="1700" dirty="0">
                <a:solidFill>
                  <a:schemeClr val="tx1"/>
                </a:solidFill>
              </a:endParaRPr>
            </a:p>
          </p:txBody>
        </p:sp>
        <p:sp>
          <p:nvSpPr>
            <p:cNvPr id="14" name="Triangle 13">
              <a:extLst>
                <a:ext uri="{FF2B5EF4-FFF2-40B4-BE49-F238E27FC236}">
                  <a16:creationId xmlns:a16="http://schemas.microsoft.com/office/drawing/2014/main" id="{09AC8751-FE6E-78E0-9B18-597DDFBFA53E}"/>
                </a:ext>
              </a:extLst>
            </p:cNvPr>
            <p:cNvSpPr/>
            <p:nvPr/>
          </p:nvSpPr>
          <p:spPr>
            <a:xfrm rot="5400000">
              <a:off x="11864231" y="713981"/>
              <a:ext cx="1048006" cy="425885"/>
            </a:xfrm>
            <a:prstGeom prst="triangl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930555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53B1D-FBD0-8A43-F244-2DDE87640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9610616-58F5-0605-294E-DA214F1109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53036" y="1825625"/>
            <a:ext cx="3685927" cy="4351338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8581DB0-FB23-6067-181B-FA1ACA68A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1F6228D-B834-5988-D6B0-029D87C10DC6}"/>
              </a:ext>
            </a:extLst>
          </p:cNvPr>
          <p:cNvSpPr/>
          <p:nvPr/>
        </p:nvSpPr>
        <p:spPr>
          <a:xfrm>
            <a:off x="360607" y="811369"/>
            <a:ext cx="5080292" cy="465533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i="1" dirty="0">
                <a:solidFill>
                  <a:schemeClr val="accent4"/>
                </a:solidFill>
                <a:latin typeface="Trebuchet MS" panose="020B0703020202090204" pitchFamily="34" charset="0"/>
              </a:rPr>
              <a:t>Dataset Description (FER2013)</a:t>
            </a:r>
          </a:p>
          <a:p>
            <a:endParaRPr lang="en-IN" sz="1600" i="1" dirty="0">
              <a:latin typeface="Trebuchet MS" panose="020B070302020209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i="1" dirty="0">
                <a:latin typeface="Trebuchet MS" panose="020B0703020202090204" pitchFamily="34" charset="0"/>
              </a:rPr>
              <a:t>Contains </a:t>
            </a:r>
            <a:r>
              <a:rPr lang="en-IN" sz="16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703020202090204" pitchFamily="34" charset="0"/>
              </a:rPr>
              <a:t>35,887 grayscale images</a:t>
            </a:r>
            <a:r>
              <a:rPr lang="en-IN" sz="1600" i="1" dirty="0">
                <a:latin typeface="Trebuchet MS" panose="020B0703020202090204" pitchFamily="34" charset="0"/>
              </a:rPr>
              <a:t>, each of </a:t>
            </a:r>
            <a:r>
              <a:rPr lang="en-IN" sz="16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703020202090204" pitchFamily="34" charset="0"/>
              </a:rPr>
              <a:t>size 48×48.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i="1" dirty="0">
                <a:latin typeface="Trebuchet MS" panose="020B0703020202090204" pitchFamily="34" charset="0"/>
              </a:rPr>
              <a:t>Collected from real-world environments using Google Search API.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i="1" dirty="0">
                <a:latin typeface="Trebuchet MS" panose="020B0703020202090204" pitchFamily="34" charset="0"/>
              </a:rPr>
              <a:t>Includes </a:t>
            </a:r>
            <a:r>
              <a:rPr lang="en-IN" sz="16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703020202090204" pitchFamily="34" charset="0"/>
              </a:rPr>
              <a:t>7 emotion classes:</a:t>
            </a:r>
            <a:br>
              <a:rPr lang="en-IN" sz="1600" i="1" dirty="0">
                <a:latin typeface="Trebuchet MS" panose="020B0703020202090204" pitchFamily="34" charset="0"/>
              </a:rPr>
            </a:br>
            <a:r>
              <a:rPr lang="en-IN" sz="1600" i="1" dirty="0">
                <a:latin typeface="Trebuchet MS" panose="020B0703020202090204" pitchFamily="34" charset="0"/>
              </a:rPr>
              <a:t>Angry, Happy, Sad, Fear, Disgust, Surprise, Neutral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i="1" dirty="0">
                <a:latin typeface="Trebuchet MS" panose="020B0703020202090204" pitchFamily="34" charset="0"/>
              </a:rPr>
              <a:t>Challenges in the dataset:		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i="1" dirty="0">
                <a:latin typeface="Trebuchet MS" panose="020B0703020202090204" pitchFamily="34" charset="0"/>
              </a:rPr>
              <a:t>Poor lighting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i="1" dirty="0">
                <a:latin typeface="Trebuchet MS" panose="020B0703020202090204" pitchFamily="34" charset="0"/>
              </a:rPr>
              <a:t>Partial faces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i="1" dirty="0">
                <a:latin typeface="Trebuchet MS" panose="020B0703020202090204" pitchFamily="34" charset="0"/>
              </a:rPr>
              <a:t>Occlusions (hands, hair, glasses)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i="1" dirty="0">
                <a:latin typeface="Trebuchet MS" panose="020B0703020202090204" pitchFamily="34" charset="0"/>
              </a:rPr>
              <a:t>Large variation in expressions</a:t>
            </a:r>
          </a:p>
          <a:p>
            <a:endParaRPr lang="en-IN" sz="1500" i="1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475C885-60B2-9120-25D9-47C52B454880}"/>
              </a:ext>
            </a:extLst>
          </p:cNvPr>
          <p:cNvSpPr/>
          <p:nvPr/>
        </p:nvSpPr>
        <p:spPr>
          <a:xfrm>
            <a:off x="10771137" y="795944"/>
            <a:ext cx="4116840" cy="460612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300" i="1" dirty="0">
                <a:solidFill>
                  <a:schemeClr val="tx1"/>
                </a:solidFill>
                <a:latin typeface="Trebuchet MS" panose="020B0703020202090204" pitchFamily="34" charset="0"/>
              </a:rPr>
              <a:t>Spatial Transformer Network (STN)</a:t>
            </a:r>
          </a:p>
          <a:p>
            <a:endParaRPr lang="en-IN" sz="1300" i="1" dirty="0">
              <a:solidFill>
                <a:schemeClr val="tx1"/>
              </a:solidFill>
              <a:latin typeface="Trebuchet MS" panose="020B0703020202090204" pitchFamily="34" charset="0"/>
            </a:endParaRPr>
          </a:p>
          <a:p>
            <a:r>
              <a:rPr lang="en-IN" sz="1300" i="1" dirty="0">
                <a:solidFill>
                  <a:schemeClr val="tx1"/>
                </a:solidFill>
                <a:latin typeface="Trebuchet MS" panose="020B0703020202090204" pitchFamily="34" charset="0"/>
              </a:rPr>
              <a:t>Faces may be tilted, rotated, or partially visible.</a:t>
            </a:r>
            <a:br>
              <a:rPr lang="en-IN" sz="1300" i="1" dirty="0">
                <a:solidFill>
                  <a:schemeClr val="tx1"/>
                </a:solidFill>
                <a:latin typeface="Trebuchet MS" panose="020B0703020202090204" pitchFamily="34" charset="0"/>
              </a:rPr>
            </a:br>
            <a:r>
              <a:rPr lang="en-IN" sz="1300" i="1" dirty="0">
                <a:solidFill>
                  <a:schemeClr val="tx1"/>
                </a:solidFill>
                <a:latin typeface="Trebuchet MS" panose="020B0703020202090204" pitchFamily="34" charset="0"/>
              </a:rPr>
              <a:t>STN helps the model focus on the correct region.</a:t>
            </a:r>
          </a:p>
          <a:p>
            <a:r>
              <a:rPr lang="en-IN" sz="1300" i="1" dirty="0">
                <a:solidFill>
                  <a:schemeClr val="tx1"/>
                </a:solidFill>
                <a:latin typeface="Trebuchet MS" panose="020B0703020202090204" pitchFamily="34" charset="0"/>
              </a:rPr>
              <a:t>How it Works</a:t>
            </a:r>
          </a:p>
          <a:p>
            <a:pPr>
              <a:buFont typeface="+mj-lt"/>
              <a:buAutoNum type="arabicPeriod"/>
            </a:pPr>
            <a:r>
              <a:rPr lang="en-IN" sz="1300" i="1" dirty="0">
                <a:solidFill>
                  <a:schemeClr val="tx1"/>
                </a:solidFill>
                <a:latin typeface="Trebuchet MS" panose="020B0703020202090204" pitchFamily="34" charset="0"/>
              </a:rPr>
              <a:t>Localization Network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300" i="1" dirty="0">
                <a:solidFill>
                  <a:schemeClr val="tx1"/>
                </a:solidFill>
                <a:latin typeface="Trebuchet MS" panose="020B0703020202090204" pitchFamily="34" charset="0"/>
              </a:rPr>
              <a:t>Small CNN predicts transformation parameters </a:t>
            </a:r>
            <a:r>
              <a:rPr lang="el-GR" sz="1300" i="1" dirty="0">
                <a:solidFill>
                  <a:schemeClr val="tx1"/>
                </a:solidFill>
                <a:latin typeface="Trebuchet MS" panose="020B0703020202090204" pitchFamily="34" charset="0"/>
              </a:rPr>
              <a:t>θ.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300" i="1" dirty="0">
                <a:solidFill>
                  <a:schemeClr val="tx1"/>
                </a:solidFill>
                <a:latin typeface="Trebuchet MS" panose="020B0703020202090204" pitchFamily="34" charset="0"/>
              </a:rPr>
              <a:t>Learns how the face should be aligned.</a:t>
            </a:r>
          </a:p>
          <a:p>
            <a:pPr>
              <a:buFont typeface="+mj-lt"/>
              <a:buAutoNum type="arabicPeriod"/>
            </a:pPr>
            <a:r>
              <a:rPr lang="en-IN" sz="1300" i="1" dirty="0">
                <a:solidFill>
                  <a:schemeClr val="tx1"/>
                </a:solidFill>
                <a:latin typeface="Trebuchet MS" panose="020B0703020202090204" pitchFamily="34" charset="0"/>
              </a:rPr>
              <a:t>Grid Generator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300" i="1" dirty="0">
                <a:solidFill>
                  <a:schemeClr val="tx1"/>
                </a:solidFill>
                <a:latin typeface="Trebuchet MS" panose="020B0703020202090204" pitchFamily="34" charset="0"/>
              </a:rPr>
              <a:t>Uses </a:t>
            </a:r>
            <a:r>
              <a:rPr lang="el-GR" sz="1300" i="1" dirty="0">
                <a:solidFill>
                  <a:schemeClr val="tx1"/>
                </a:solidFill>
                <a:latin typeface="Trebuchet MS" panose="020B0703020202090204" pitchFamily="34" charset="0"/>
              </a:rPr>
              <a:t>θ </a:t>
            </a:r>
            <a:r>
              <a:rPr lang="en-IN" sz="1300" i="1" dirty="0">
                <a:solidFill>
                  <a:schemeClr val="tx1"/>
                </a:solidFill>
                <a:latin typeface="Trebuchet MS" panose="020B0703020202090204" pitchFamily="34" charset="0"/>
              </a:rPr>
              <a:t>to create a sampling grid.</a:t>
            </a:r>
          </a:p>
          <a:p>
            <a:pPr>
              <a:buFont typeface="+mj-lt"/>
              <a:buAutoNum type="arabicPeriod"/>
            </a:pPr>
            <a:r>
              <a:rPr lang="en-IN" sz="1300" i="1" dirty="0">
                <a:solidFill>
                  <a:schemeClr val="tx1"/>
                </a:solidFill>
                <a:latin typeface="Trebuchet MS" panose="020B0703020202090204" pitchFamily="34" charset="0"/>
              </a:rPr>
              <a:t>Sampler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300" i="1" dirty="0">
                <a:solidFill>
                  <a:schemeClr val="tx1"/>
                </a:solidFill>
                <a:latin typeface="Trebuchet MS" panose="020B0703020202090204" pitchFamily="34" charset="0"/>
              </a:rPr>
              <a:t>Applies the grid to the image → produces a better-aligned face.</a:t>
            </a:r>
          </a:p>
          <a:p>
            <a:r>
              <a:rPr lang="en-IN" sz="1300" i="1" dirty="0">
                <a:solidFill>
                  <a:schemeClr val="tx1"/>
                </a:solidFill>
                <a:latin typeface="Trebuchet MS" panose="020B0703020202090204" pitchFamily="34" charset="0"/>
              </a:rPr>
              <a:t>Result</a:t>
            </a:r>
          </a:p>
          <a:p>
            <a:r>
              <a:rPr lang="en-IN" sz="1300" i="1" dirty="0">
                <a:solidFill>
                  <a:schemeClr val="tx1"/>
                </a:solidFill>
                <a:latin typeface="Trebuchet MS" panose="020B0703020202090204" pitchFamily="34" charset="0"/>
              </a:rPr>
              <a:t>Only important parts (eyes, mouth, eyebrows) remain in focus → improves accuracy.</a:t>
            </a:r>
          </a:p>
          <a:p>
            <a:endParaRPr lang="en-US" sz="1300" i="1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FC01B40-955F-36B2-FA02-0F546B862FBA}"/>
              </a:ext>
            </a:extLst>
          </p:cNvPr>
          <p:cNvSpPr/>
          <p:nvPr/>
        </p:nvSpPr>
        <p:spPr>
          <a:xfrm>
            <a:off x="0" y="5782614"/>
            <a:ext cx="12192000" cy="710261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E2328E4-2808-D7A0-1B98-84048152FED2}"/>
              </a:ext>
            </a:extLst>
          </p:cNvPr>
          <p:cNvSpPr/>
          <p:nvPr/>
        </p:nvSpPr>
        <p:spPr>
          <a:xfrm>
            <a:off x="2533705" y="5782613"/>
            <a:ext cx="734096" cy="710261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C33AFC5-8592-97A2-95B0-ABAEF7D9A5A2}"/>
              </a:ext>
            </a:extLst>
          </p:cNvPr>
          <p:cNvSpPr/>
          <p:nvPr/>
        </p:nvSpPr>
        <p:spPr>
          <a:xfrm>
            <a:off x="5801508" y="795945"/>
            <a:ext cx="4501591" cy="460612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Pre-processing Steps</a:t>
            </a:r>
          </a:p>
          <a:p>
            <a:endParaRPr lang="en-IN" sz="1400" i="1" dirty="0">
              <a:solidFill>
                <a:schemeClr val="tx1"/>
              </a:solidFill>
              <a:latin typeface="Trebuchet MS" panose="020B0703020202090204" pitchFamily="34" charset="0"/>
            </a:endParaRPr>
          </a:p>
          <a:p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To ensure the model learns correctly, several pre-processing techniques are applied:</a:t>
            </a:r>
          </a:p>
          <a:p>
            <a:pPr>
              <a:buFont typeface="+mj-lt"/>
              <a:buAutoNum type="arabicPeriod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Grayscale Normalization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Pixel values scaled for stable training.</a:t>
            </a:r>
          </a:p>
          <a:p>
            <a:pPr>
              <a:buFont typeface="+mj-lt"/>
              <a:buAutoNum type="arabicPeriod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Resize Images to 48×48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Maintains uniformity across dataset.</a:t>
            </a:r>
          </a:p>
          <a:p>
            <a:pPr>
              <a:buFont typeface="+mj-lt"/>
              <a:buAutoNum type="arabicPeriod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Data Normalization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Helps CNN converge faster and avoid exploding gradients.</a:t>
            </a:r>
          </a:p>
          <a:p>
            <a:pPr>
              <a:buFont typeface="+mj-lt"/>
              <a:buAutoNum type="arabicPeriod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STN-based Alignment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Automatically rotates/transforms images to focus on important regions.</a:t>
            </a:r>
          </a:p>
          <a:p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These steps make the input clean and consistent.</a:t>
            </a:r>
          </a:p>
          <a:p>
            <a:endParaRPr lang="en-US" sz="1400" i="1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09382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53B1D-FBD0-8A43-F244-2DDE87640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9610616-58F5-0605-294E-DA214F1109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53036" y="1825625"/>
            <a:ext cx="3685927" cy="4351338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8581DB0-FB23-6067-181B-FA1ACA68A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1F6228D-B834-5988-D6B0-029D87C10DC6}"/>
              </a:ext>
            </a:extLst>
          </p:cNvPr>
          <p:cNvSpPr/>
          <p:nvPr/>
        </p:nvSpPr>
        <p:spPr>
          <a:xfrm>
            <a:off x="-3034234" y="746732"/>
            <a:ext cx="5080292" cy="465533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i="1" dirty="0">
                <a:solidFill>
                  <a:schemeClr val="tx1"/>
                </a:solidFill>
                <a:latin typeface="Trebuchet MS" panose="020B0703020202090204" pitchFamily="34" charset="0"/>
              </a:rPr>
              <a:t>Dataset Description (FER2013)</a:t>
            </a:r>
          </a:p>
          <a:p>
            <a:endParaRPr lang="en-IN" sz="1600" i="1" dirty="0">
              <a:solidFill>
                <a:schemeClr val="tx1"/>
              </a:solidFill>
              <a:latin typeface="Trebuchet MS" panose="020B070302020209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i="1" dirty="0">
                <a:solidFill>
                  <a:schemeClr val="tx1"/>
                </a:solidFill>
                <a:latin typeface="Trebuchet MS" panose="020B0703020202090204" pitchFamily="34" charset="0"/>
              </a:rPr>
              <a:t>Contains 35,887 grayscale images, each of size 48×48.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i="1" dirty="0">
                <a:solidFill>
                  <a:schemeClr val="tx1"/>
                </a:solidFill>
                <a:latin typeface="Trebuchet MS" panose="020B0703020202090204" pitchFamily="34" charset="0"/>
              </a:rPr>
              <a:t>Collected from real-world environments using Google Search API.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i="1" dirty="0">
                <a:solidFill>
                  <a:schemeClr val="tx1"/>
                </a:solidFill>
                <a:latin typeface="Trebuchet MS" panose="020B0703020202090204" pitchFamily="34" charset="0"/>
              </a:rPr>
              <a:t>Includes 7 emotion classes:</a:t>
            </a:r>
            <a:br>
              <a:rPr lang="en-IN" sz="1600" i="1" dirty="0">
                <a:solidFill>
                  <a:schemeClr val="tx1"/>
                </a:solidFill>
                <a:latin typeface="Trebuchet MS" panose="020B0703020202090204" pitchFamily="34" charset="0"/>
              </a:rPr>
            </a:br>
            <a:r>
              <a:rPr lang="en-IN" sz="1600" i="1" dirty="0">
                <a:solidFill>
                  <a:schemeClr val="tx1"/>
                </a:solidFill>
                <a:latin typeface="Trebuchet MS" panose="020B0703020202090204" pitchFamily="34" charset="0"/>
              </a:rPr>
              <a:t>Angry, Happy, Sad, Fear, Disgust, Surprise, Neutral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i="1" dirty="0">
                <a:solidFill>
                  <a:schemeClr val="tx1"/>
                </a:solidFill>
                <a:latin typeface="Trebuchet MS" panose="020B0703020202090204" pitchFamily="34" charset="0"/>
              </a:rPr>
              <a:t>Challenges in the dataset:		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i="1" dirty="0">
                <a:solidFill>
                  <a:schemeClr val="tx1"/>
                </a:solidFill>
                <a:latin typeface="Trebuchet MS" panose="020B0703020202090204" pitchFamily="34" charset="0"/>
              </a:rPr>
              <a:t>Poor lighting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i="1" dirty="0">
                <a:solidFill>
                  <a:schemeClr val="tx1"/>
                </a:solidFill>
                <a:latin typeface="Trebuchet MS" panose="020B0703020202090204" pitchFamily="34" charset="0"/>
              </a:rPr>
              <a:t>Partial faces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i="1" dirty="0">
                <a:solidFill>
                  <a:schemeClr val="tx1"/>
                </a:solidFill>
                <a:latin typeface="Trebuchet MS" panose="020B0703020202090204" pitchFamily="34" charset="0"/>
              </a:rPr>
              <a:t>Occlusions (hands, hair, glasses)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i="1" dirty="0">
                <a:solidFill>
                  <a:schemeClr val="tx1"/>
                </a:solidFill>
                <a:latin typeface="Trebuchet MS" panose="020B0703020202090204" pitchFamily="34" charset="0"/>
              </a:rPr>
              <a:t>Large variation in expressions</a:t>
            </a:r>
          </a:p>
          <a:p>
            <a:endParaRPr lang="en-IN" sz="1500" i="1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475C885-60B2-9120-25D9-47C52B454880}"/>
              </a:ext>
            </a:extLst>
          </p:cNvPr>
          <p:cNvSpPr/>
          <p:nvPr/>
        </p:nvSpPr>
        <p:spPr>
          <a:xfrm>
            <a:off x="8944379" y="795943"/>
            <a:ext cx="4116840" cy="460612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300" i="1" dirty="0">
                <a:solidFill>
                  <a:schemeClr val="tx1"/>
                </a:solidFill>
                <a:latin typeface="Trebuchet MS" panose="020B0703020202090204" pitchFamily="34" charset="0"/>
              </a:rPr>
              <a:t>Spatial Transformer Network (STN)</a:t>
            </a:r>
          </a:p>
          <a:p>
            <a:endParaRPr lang="en-IN" sz="1300" i="1" dirty="0">
              <a:solidFill>
                <a:schemeClr val="tx1"/>
              </a:solidFill>
              <a:latin typeface="Trebuchet MS" panose="020B0703020202090204" pitchFamily="34" charset="0"/>
            </a:endParaRPr>
          </a:p>
          <a:p>
            <a:r>
              <a:rPr lang="en-IN" sz="1300" i="1" dirty="0">
                <a:solidFill>
                  <a:schemeClr val="tx1"/>
                </a:solidFill>
                <a:latin typeface="Trebuchet MS" panose="020B0703020202090204" pitchFamily="34" charset="0"/>
              </a:rPr>
              <a:t>Faces may be tilted, rotated, or partially visible.</a:t>
            </a:r>
            <a:br>
              <a:rPr lang="en-IN" sz="1300" i="1" dirty="0">
                <a:solidFill>
                  <a:schemeClr val="tx1"/>
                </a:solidFill>
                <a:latin typeface="Trebuchet MS" panose="020B0703020202090204" pitchFamily="34" charset="0"/>
              </a:rPr>
            </a:br>
            <a:r>
              <a:rPr lang="en-IN" sz="1300" i="1" dirty="0">
                <a:solidFill>
                  <a:schemeClr val="tx1"/>
                </a:solidFill>
                <a:latin typeface="Trebuchet MS" panose="020B0703020202090204" pitchFamily="34" charset="0"/>
              </a:rPr>
              <a:t>STN helps the model focus on the correct region.</a:t>
            </a:r>
          </a:p>
          <a:p>
            <a:r>
              <a:rPr lang="en-IN" sz="1300" i="1" dirty="0">
                <a:solidFill>
                  <a:schemeClr val="tx1"/>
                </a:solidFill>
                <a:latin typeface="Trebuchet MS" panose="020B0703020202090204" pitchFamily="34" charset="0"/>
              </a:rPr>
              <a:t>How it Works</a:t>
            </a:r>
          </a:p>
          <a:p>
            <a:pPr>
              <a:buFont typeface="+mj-lt"/>
              <a:buAutoNum type="arabicPeriod"/>
            </a:pPr>
            <a:r>
              <a:rPr lang="en-IN" sz="1300" i="1" dirty="0">
                <a:solidFill>
                  <a:schemeClr val="tx1"/>
                </a:solidFill>
                <a:latin typeface="Trebuchet MS" panose="020B0703020202090204" pitchFamily="34" charset="0"/>
              </a:rPr>
              <a:t>Localization Network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300" i="1" dirty="0">
                <a:solidFill>
                  <a:schemeClr val="tx1"/>
                </a:solidFill>
                <a:latin typeface="Trebuchet MS" panose="020B0703020202090204" pitchFamily="34" charset="0"/>
              </a:rPr>
              <a:t>Small CNN predicts transformation parameters </a:t>
            </a:r>
            <a:r>
              <a:rPr lang="el-GR" sz="1300" i="1" dirty="0">
                <a:solidFill>
                  <a:schemeClr val="tx1"/>
                </a:solidFill>
                <a:latin typeface="Trebuchet MS" panose="020B0703020202090204" pitchFamily="34" charset="0"/>
              </a:rPr>
              <a:t>θ.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300" i="1" dirty="0">
                <a:solidFill>
                  <a:schemeClr val="tx1"/>
                </a:solidFill>
                <a:latin typeface="Trebuchet MS" panose="020B0703020202090204" pitchFamily="34" charset="0"/>
              </a:rPr>
              <a:t>Learns how the face should be aligned.</a:t>
            </a:r>
          </a:p>
          <a:p>
            <a:pPr>
              <a:buFont typeface="+mj-lt"/>
              <a:buAutoNum type="arabicPeriod"/>
            </a:pPr>
            <a:r>
              <a:rPr lang="en-IN" sz="1300" i="1" dirty="0">
                <a:solidFill>
                  <a:schemeClr val="tx1"/>
                </a:solidFill>
                <a:latin typeface="Trebuchet MS" panose="020B0703020202090204" pitchFamily="34" charset="0"/>
              </a:rPr>
              <a:t>Grid Generator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300" i="1" dirty="0">
                <a:solidFill>
                  <a:schemeClr val="tx1"/>
                </a:solidFill>
                <a:latin typeface="Trebuchet MS" panose="020B0703020202090204" pitchFamily="34" charset="0"/>
              </a:rPr>
              <a:t>Uses </a:t>
            </a:r>
            <a:r>
              <a:rPr lang="el-GR" sz="1300" i="1" dirty="0">
                <a:solidFill>
                  <a:schemeClr val="tx1"/>
                </a:solidFill>
                <a:latin typeface="Trebuchet MS" panose="020B0703020202090204" pitchFamily="34" charset="0"/>
              </a:rPr>
              <a:t>θ </a:t>
            </a:r>
            <a:r>
              <a:rPr lang="en-IN" sz="1300" i="1" dirty="0">
                <a:solidFill>
                  <a:schemeClr val="tx1"/>
                </a:solidFill>
                <a:latin typeface="Trebuchet MS" panose="020B0703020202090204" pitchFamily="34" charset="0"/>
              </a:rPr>
              <a:t>to create a sampling grid.</a:t>
            </a:r>
          </a:p>
          <a:p>
            <a:pPr>
              <a:buFont typeface="+mj-lt"/>
              <a:buAutoNum type="arabicPeriod"/>
            </a:pPr>
            <a:r>
              <a:rPr lang="en-IN" sz="1300" i="1" dirty="0">
                <a:solidFill>
                  <a:schemeClr val="tx1"/>
                </a:solidFill>
                <a:latin typeface="Trebuchet MS" panose="020B0703020202090204" pitchFamily="34" charset="0"/>
              </a:rPr>
              <a:t>Sampler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300" i="1" dirty="0">
                <a:solidFill>
                  <a:schemeClr val="tx1"/>
                </a:solidFill>
                <a:latin typeface="Trebuchet MS" panose="020B0703020202090204" pitchFamily="34" charset="0"/>
              </a:rPr>
              <a:t>Applies the grid to the image → produces a better-aligned face.</a:t>
            </a:r>
          </a:p>
          <a:p>
            <a:r>
              <a:rPr lang="en-IN" sz="1300" i="1" dirty="0">
                <a:solidFill>
                  <a:schemeClr val="tx1"/>
                </a:solidFill>
                <a:latin typeface="Trebuchet MS" panose="020B0703020202090204" pitchFamily="34" charset="0"/>
              </a:rPr>
              <a:t>Result</a:t>
            </a:r>
          </a:p>
          <a:p>
            <a:r>
              <a:rPr lang="en-IN" sz="1300" i="1" dirty="0">
                <a:solidFill>
                  <a:schemeClr val="tx1"/>
                </a:solidFill>
                <a:latin typeface="Trebuchet MS" panose="020B0703020202090204" pitchFamily="34" charset="0"/>
              </a:rPr>
              <a:t>Only important parts (eyes, mouth, eyebrows) remain in focus → improves accuracy.</a:t>
            </a:r>
          </a:p>
          <a:p>
            <a:endParaRPr lang="en-US" sz="1300" i="1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FC01B40-955F-36B2-FA02-0F546B862FBA}"/>
              </a:ext>
            </a:extLst>
          </p:cNvPr>
          <p:cNvSpPr/>
          <p:nvPr/>
        </p:nvSpPr>
        <p:spPr>
          <a:xfrm>
            <a:off x="0" y="5782614"/>
            <a:ext cx="12192000" cy="710261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E2328E4-2808-D7A0-1B98-84048152FED2}"/>
              </a:ext>
            </a:extLst>
          </p:cNvPr>
          <p:cNvSpPr/>
          <p:nvPr/>
        </p:nvSpPr>
        <p:spPr>
          <a:xfrm>
            <a:off x="5321119" y="5782613"/>
            <a:ext cx="734096" cy="710261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C33AFC5-8592-97A2-95B0-ABAEF7D9A5A2}"/>
              </a:ext>
            </a:extLst>
          </p:cNvPr>
          <p:cNvSpPr/>
          <p:nvPr/>
        </p:nvSpPr>
        <p:spPr>
          <a:xfrm>
            <a:off x="3437372" y="795944"/>
            <a:ext cx="4501591" cy="460612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i="1" dirty="0">
                <a:solidFill>
                  <a:schemeClr val="accent4"/>
                </a:solidFill>
                <a:latin typeface="Trebuchet MS" panose="020B0703020202090204" pitchFamily="34" charset="0"/>
              </a:rPr>
              <a:t>Pre-processing Steps</a:t>
            </a:r>
          </a:p>
          <a:p>
            <a:endParaRPr lang="en-IN" sz="1400" i="1" dirty="0">
              <a:latin typeface="Trebuchet MS" panose="020B0703020202090204" pitchFamily="34" charset="0"/>
            </a:endParaRPr>
          </a:p>
          <a:p>
            <a:r>
              <a:rPr lang="en-IN" sz="1400" i="1" dirty="0">
                <a:latin typeface="Trebuchet MS" panose="020B0703020202090204" pitchFamily="34" charset="0"/>
              </a:rPr>
              <a:t>To ensure the model learns correctly, several pre-processing techniques are applied:</a:t>
            </a:r>
          </a:p>
          <a:p>
            <a:pPr>
              <a:buFont typeface="+mj-lt"/>
              <a:buAutoNum type="arabicPeriod"/>
            </a:pPr>
            <a:r>
              <a:rPr lang="en-IN" sz="140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rebuchet MS" panose="020B0703020202090204" pitchFamily="34" charset="0"/>
              </a:rPr>
              <a:t>Grayscale Normalization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400" i="1" dirty="0">
                <a:latin typeface="Trebuchet MS" panose="020B0703020202090204" pitchFamily="34" charset="0"/>
              </a:rPr>
              <a:t>Pixel values scaled for stable training.</a:t>
            </a:r>
          </a:p>
          <a:p>
            <a:pPr>
              <a:buFont typeface="+mj-lt"/>
              <a:buAutoNum type="arabicPeriod"/>
            </a:pPr>
            <a:r>
              <a:rPr lang="en-IN" sz="140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rebuchet MS" panose="020B0703020202090204" pitchFamily="34" charset="0"/>
              </a:rPr>
              <a:t>Resize Images to 48×48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400" i="1" dirty="0">
                <a:latin typeface="Trebuchet MS" panose="020B0703020202090204" pitchFamily="34" charset="0"/>
              </a:rPr>
              <a:t>Maintains uniformity across dataset.</a:t>
            </a:r>
          </a:p>
          <a:p>
            <a:pPr>
              <a:buFont typeface="+mj-lt"/>
              <a:buAutoNum type="arabicPeriod"/>
            </a:pPr>
            <a:r>
              <a:rPr lang="en-IN" sz="140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rebuchet MS" panose="020B0703020202090204" pitchFamily="34" charset="0"/>
              </a:rPr>
              <a:t>Data Normalization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400" i="1" dirty="0">
                <a:latin typeface="Trebuchet MS" panose="020B0703020202090204" pitchFamily="34" charset="0"/>
              </a:rPr>
              <a:t>Helps CNN converge faster and avoid exploding gradients.</a:t>
            </a:r>
          </a:p>
          <a:p>
            <a:pPr>
              <a:buFont typeface="+mj-lt"/>
              <a:buAutoNum type="arabicPeriod"/>
            </a:pPr>
            <a:r>
              <a:rPr lang="en-IN" sz="140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rebuchet MS" panose="020B0703020202090204" pitchFamily="34" charset="0"/>
              </a:rPr>
              <a:t>STN-based Alignment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400" i="1" dirty="0">
                <a:latin typeface="Trebuchet MS" panose="020B0703020202090204" pitchFamily="34" charset="0"/>
              </a:rPr>
              <a:t>Automatically rotates/transforms images to focus on important regions.</a:t>
            </a:r>
          </a:p>
          <a:p>
            <a:r>
              <a:rPr lang="en-IN" sz="1400" i="1" dirty="0">
                <a:latin typeface="Trebuchet MS" panose="020B0703020202090204" pitchFamily="34" charset="0"/>
              </a:rPr>
              <a:t>These steps make the input clean and consistent.</a:t>
            </a:r>
          </a:p>
          <a:p>
            <a:endParaRPr lang="en-US" sz="1400" i="1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9174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53B1D-FBD0-8A43-F244-2DDE87640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9610616-58F5-0605-294E-DA214F1109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53036" y="1825625"/>
            <a:ext cx="3685927" cy="4351338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8581DB0-FB23-6067-181B-FA1ACA68A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1F6228D-B834-5988-D6B0-029D87C10DC6}"/>
              </a:ext>
            </a:extLst>
          </p:cNvPr>
          <p:cNvSpPr/>
          <p:nvPr/>
        </p:nvSpPr>
        <p:spPr>
          <a:xfrm>
            <a:off x="-3959144" y="746731"/>
            <a:ext cx="5080292" cy="465533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i="1" dirty="0">
                <a:solidFill>
                  <a:schemeClr val="tx1"/>
                </a:solidFill>
                <a:latin typeface="Trebuchet MS" panose="020B0703020202090204" pitchFamily="34" charset="0"/>
              </a:rPr>
              <a:t>Dataset Description (FER2013)</a:t>
            </a:r>
          </a:p>
          <a:p>
            <a:endParaRPr lang="en-IN" sz="1600" i="1" dirty="0">
              <a:solidFill>
                <a:schemeClr val="tx1"/>
              </a:solidFill>
              <a:latin typeface="Trebuchet MS" panose="020B070302020209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i="1" dirty="0">
                <a:solidFill>
                  <a:schemeClr val="tx1"/>
                </a:solidFill>
                <a:latin typeface="Trebuchet MS" panose="020B0703020202090204" pitchFamily="34" charset="0"/>
              </a:rPr>
              <a:t>Contains 35,887 grayscale images, each of size 48×48.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i="1" dirty="0">
                <a:solidFill>
                  <a:schemeClr val="tx1"/>
                </a:solidFill>
                <a:latin typeface="Trebuchet MS" panose="020B0703020202090204" pitchFamily="34" charset="0"/>
              </a:rPr>
              <a:t>Collected from real-world environments using Google Search API.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i="1" dirty="0">
                <a:solidFill>
                  <a:schemeClr val="tx1"/>
                </a:solidFill>
                <a:latin typeface="Trebuchet MS" panose="020B0703020202090204" pitchFamily="34" charset="0"/>
              </a:rPr>
              <a:t>Includes 7 emotion classes:</a:t>
            </a:r>
            <a:br>
              <a:rPr lang="en-IN" sz="1600" i="1" dirty="0">
                <a:solidFill>
                  <a:schemeClr val="tx1"/>
                </a:solidFill>
                <a:latin typeface="Trebuchet MS" panose="020B0703020202090204" pitchFamily="34" charset="0"/>
              </a:rPr>
            </a:br>
            <a:r>
              <a:rPr lang="en-IN" sz="1600" i="1" dirty="0">
                <a:solidFill>
                  <a:schemeClr val="tx1"/>
                </a:solidFill>
                <a:latin typeface="Trebuchet MS" panose="020B0703020202090204" pitchFamily="34" charset="0"/>
              </a:rPr>
              <a:t>Angry, Happy, Sad, Fear, Disgust, Surprise, Neutral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i="1" dirty="0">
                <a:solidFill>
                  <a:schemeClr val="tx1"/>
                </a:solidFill>
                <a:latin typeface="Trebuchet MS" panose="020B0703020202090204" pitchFamily="34" charset="0"/>
              </a:rPr>
              <a:t>Challenges in the dataset:		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i="1" dirty="0">
                <a:solidFill>
                  <a:schemeClr val="tx1"/>
                </a:solidFill>
                <a:latin typeface="Trebuchet MS" panose="020B0703020202090204" pitchFamily="34" charset="0"/>
              </a:rPr>
              <a:t>Poor lighting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i="1" dirty="0">
                <a:solidFill>
                  <a:schemeClr val="tx1"/>
                </a:solidFill>
                <a:latin typeface="Trebuchet MS" panose="020B0703020202090204" pitchFamily="34" charset="0"/>
              </a:rPr>
              <a:t>Partial faces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i="1" dirty="0">
                <a:solidFill>
                  <a:schemeClr val="tx1"/>
                </a:solidFill>
                <a:latin typeface="Trebuchet MS" panose="020B0703020202090204" pitchFamily="34" charset="0"/>
              </a:rPr>
              <a:t>Occlusions (hands, hair, glasses)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i="1" dirty="0">
                <a:solidFill>
                  <a:schemeClr val="tx1"/>
                </a:solidFill>
                <a:latin typeface="Trebuchet MS" panose="020B0703020202090204" pitchFamily="34" charset="0"/>
              </a:rPr>
              <a:t>Large variation in expressions</a:t>
            </a:r>
          </a:p>
          <a:p>
            <a:endParaRPr lang="en-IN" sz="1500" i="1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475C885-60B2-9120-25D9-47C52B454880}"/>
              </a:ext>
            </a:extLst>
          </p:cNvPr>
          <p:cNvSpPr/>
          <p:nvPr/>
        </p:nvSpPr>
        <p:spPr>
          <a:xfrm>
            <a:off x="7305058" y="795941"/>
            <a:ext cx="4116840" cy="460612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300" i="1" dirty="0">
                <a:solidFill>
                  <a:schemeClr val="accent4"/>
                </a:solidFill>
                <a:latin typeface="Trebuchet MS" panose="020B0703020202090204" pitchFamily="34" charset="0"/>
              </a:rPr>
              <a:t>Spatial Transformer Network (STN)</a:t>
            </a:r>
          </a:p>
          <a:p>
            <a:endParaRPr lang="en-IN" sz="1300" i="1" dirty="0">
              <a:latin typeface="Trebuchet MS" panose="020B0703020202090204" pitchFamily="34" charset="0"/>
            </a:endParaRPr>
          </a:p>
          <a:p>
            <a:r>
              <a:rPr lang="en-IN" sz="1300" i="1" dirty="0">
                <a:latin typeface="Trebuchet MS" panose="020B0703020202090204" pitchFamily="34" charset="0"/>
              </a:rPr>
              <a:t>Faces may be tilted, rotated, or partially visible.</a:t>
            </a:r>
            <a:br>
              <a:rPr lang="en-IN" sz="1300" i="1" dirty="0">
                <a:latin typeface="Trebuchet MS" panose="020B0703020202090204" pitchFamily="34" charset="0"/>
              </a:rPr>
            </a:br>
            <a:r>
              <a:rPr lang="en-IN" sz="1300" i="1" dirty="0">
                <a:latin typeface="Trebuchet MS" panose="020B0703020202090204" pitchFamily="34" charset="0"/>
              </a:rPr>
              <a:t>STN helps the model focus on the correct region.</a:t>
            </a:r>
          </a:p>
          <a:p>
            <a:r>
              <a:rPr lang="en-IN" sz="13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rebuchet MS" panose="020B0703020202090204" pitchFamily="34" charset="0"/>
              </a:rPr>
              <a:t>How it Works</a:t>
            </a:r>
          </a:p>
          <a:p>
            <a:pPr>
              <a:buFont typeface="+mj-lt"/>
              <a:buAutoNum type="arabicPeriod"/>
            </a:pPr>
            <a:r>
              <a:rPr lang="en-IN" sz="1300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rebuchet MS" panose="020B0703020202090204" pitchFamily="34" charset="0"/>
              </a:rPr>
              <a:t>Localization Network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300" i="1" dirty="0">
                <a:latin typeface="Trebuchet MS" panose="020B0703020202090204" pitchFamily="34" charset="0"/>
              </a:rPr>
              <a:t>Small CNN predicts transformation parameters </a:t>
            </a:r>
            <a:r>
              <a:rPr lang="el-GR" sz="1300" i="1" dirty="0">
                <a:latin typeface="Trebuchet MS" panose="020B0703020202090204" pitchFamily="34" charset="0"/>
              </a:rPr>
              <a:t>θ.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300" i="1" dirty="0">
                <a:latin typeface="Trebuchet MS" panose="020B0703020202090204" pitchFamily="34" charset="0"/>
              </a:rPr>
              <a:t>Learns how the face should be aligned.</a:t>
            </a:r>
          </a:p>
          <a:p>
            <a:pPr>
              <a:buFont typeface="+mj-lt"/>
              <a:buAutoNum type="arabicPeriod"/>
            </a:pPr>
            <a:r>
              <a:rPr lang="en-IN" sz="1300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rebuchet MS" panose="020B0703020202090204" pitchFamily="34" charset="0"/>
              </a:rPr>
              <a:t>Grid Generator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300" i="1" dirty="0">
                <a:latin typeface="Trebuchet MS" panose="020B0703020202090204" pitchFamily="34" charset="0"/>
              </a:rPr>
              <a:t>Uses </a:t>
            </a:r>
            <a:r>
              <a:rPr lang="el-GR" sz="1300" i="1" dirty="0">
                <a:latin typeface="Trebuchet MS" panose="020B0703020202090204" pitchFamily="34" charset="0"/>
              </a:rPr>
              <a:t>θ </a:t>
            </a:r>
            <a:r>
              <a:rPr lang="en-IN" sz="1300" i="1" dirty="0">
                <a:latin typeface="Trebuchet MS" panose="020B0703020202090204" pitchFamily="34" charset="0"/>
              </a:rPr>
              <a:t>to create a sampling grid.</a:t>
            </a:r>
          </a:p>
          <a:p>
            <a:pPr>
              <a:buFont typeface="+mj-lt"/>
              <a:buAutoNum type="arabicPeriod"/>
            </a:pPr>
            <a:r>
              <a:rPr lang="en-IN" sz="1300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rebuchet MS" panose="020B0703020202090204" pitchFamily="34" charset="0"/>
              </a:rPr>
              <a:t>Sampler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300" i="1" dirty="0">
                <a:latin typeface="Trebuchet MS" panose="020B0703020202090204" pitchFamily="34" charset="0"/>
              </a:rPr>
              <a:t>Applies the grid to the image → produces a better-aligned face.</a:t>
            </a:r>
          </a:p>
          <a:p>
            <a:r>
              <a:rPr lang="en-IN" sz="1300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rebuchet MS" panose="020B0703020202090204" pitchFamily="34" charset="0"/>
              </a:rPr>
              <a:t>Result</a:t>
            </a:r>
          </a:p>
          <a:p>
            <a:r>
              <a:rPr lang="en-IN" sz="1300" i="1" dirty="0">
                <a:latin typeface="Trebuchet MS" panose="020B0703020202090204" pitchFamily="34" charset="0"/>
              </a:rPr>
              <a:t>Only important parts (eyes, mouth, eyebrows) remain in focus → improves accuracy.</a:t>
            </a:r>
          </a:p>
          <a:p>
            <a:endParaRPr lang="en-US" sz="1300" i="1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FC01B40-955F-36B2-FA02-0F546B862FBA}"/>
              </a:ext>
            </a:extLst>
          </p:cNvPr>
          <p:cNvSpPr/>
          <p:nvPr/>
        </p:nvSpPr>
        <p:spPr>
          <a:xfrm>
            <a:off x="0" y="5782614"/>
            <a:ext cx="12192000" cy="710261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E2328E4-2808-D7A0-1B98-84048152FED2}"/>
              </a:ext>
            </a:extLst>
          </p:cNvPr>
          <p:cNvSpPr/>
          <p:nvPr/>
        </p:nvSpPr>
        <p:spPr>
          <a:xfrm>
            <a:off x="8996430" y="5782612"/>
            <a:ext cx="734096" cy="710261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C33AFC5-8592-97A2-95B0-ABAEF7D9A5A2}"/>
              </a:ext>
            </a:extLst>
          </p:cNvPr>
          <p:cNvSpPr/>
          <p:nvPr/>
        </p:nvSpPr>
        <p:spPr>
          <a:xfrm>
            <a:off x="1959348" y="795942"/>
            <a:ext cx="4501591" cy="460612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Pre-processing Steps</a:t>
            </a:r>
          </a:p>
          <a:p>
            <a:endParaRPr lang="en-IN" sz="1400" i="1" dirty="0">
              <a:solidFill>
                <a:schemeClr val="tx1"/>
              </a:solidFill>
              <a:latin typeface="Trebuchet MS" panose="020B0703020202090204" pitchFamily="34" charset="0"/>
            </a:endParaRPr>
          </a:p>
          <a:p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To ensure the model learns correctly, several pre-processing techniques are applied:</a:t>
            </a:r>
          </a:p>
          <a:p>
            <a:pPr>
              <a:buFont typeface="+mj-lt"/>
              <a:buAutoNum type="arabicPeriod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Grayscale Normalization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Pixel values scaled for stable training.</a:t>
            </a:r>
          </a:p>
          <a:p>
            <a:pPr>
              <a:buFont typeface="+mj-lt"/>
              <a:buAutoNum type="arabicPeriod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Resize Images to 48×48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Maintains uniformity across dataset.</a:t>
            </a:r>
          </a:p>
          <a:p>
            <a:pPr>
              <a:buFont typeface="+mj-lt"/>
              <a:buAutoNum type="arabicPeriod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Data Normalization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Helps CNN converge faster and avoid exploding gradients.</a:t>
            </a:r>
          </a:p>
          <a:p>
            <a:pPr>
              <a:buFont typeface="+mj-lt"/>
              <a:buAutoNum type="arabicPeriod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STN-based Alignment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Automatically rotates/transforms images to focus on important regions.</a:t>
            </a:r>
          </a:p>
          <a:p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These steps make the input clean and consistent.</a:t>
            </a:r>
          </a:p>
          <a:p>
            <a:endParaRPr lang="en-US" sz="1400" i="1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652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53B1D-FBD0-8A43-F244-2DDE87640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9610616-58F5-0605-294E-DA214F1109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53036" y="1825625"/>
            <a:ext cx="3685927" cy="4351338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8581DB0-FB23-6067-181B-FA1ACA68A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1F6228D-B834-5988-D6B0-029D87C10DC6}"/>
              </a:ext>
            </a:extLst>
          </p:cNvPr>
          <p:cNvSpPr/>
          <p:nvPr/>
        </p:nvSpPr>
        <p:spPr>
          <a:xfrm>
            <a:off x="360607" y="811369"/>
            <a:ext cx="5080292" cy="465533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i="1" dirty="0">
                <a:solidFill>
                  <a:schemeClr val="accent4"/>
                </a:solidFill>
                <a:latin typeface="Trebuchet MS" panose="020B0703020202090204" pitchFamily="34" charset="0"/>
              </a:rPr>
              <a:t>CNN Architecture (Layer-by-Layer)</a:t>
            </a:r>
          </a:p>
          <a:p>
            <a:endParaRPr lang="en-IN" sz="1400" i="1" dirty="0">
              <a:latin typeface="Trebuchet MS" panose="020B0703020202090204" pitchFamily="34" charset="0"/>
            </a:endParaRPr>
          </a:p>
          <a:p>
            <a:pPr marL="342900" indent="-342900">
              <a:buAutoNum type="arabicPeriod"/>
            </a:pPr>
            <a:r>
              <a:rPr lang="en-IN" sz="140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rebuchet MS" panose="020B0703020202090204" pitchFamily="34" charset="0"/>
              </a:rPr>
              <a:t>Convolution Layer 1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i="1" dirty="0">
                <a:latin typeface="Trebuchet MS" panose="020B0703020202090204" pitchFamily="34" charset="0"/>
              </a:rPr>
              <a:t>10 filters of size 3×3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latin typeface="Trebuchet MS" panose="020B0703020202090204" pitchFamily="34" charset="0"/>
              </a:rPr>
              <a:t>Detects basic features (edges, lines, light/dark patterns)</a:t>
            </a:r>
          </a:p>
          <a:p>
            <a:r>
              <a:rPr lang="en-IN" sz="140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rebuchet MS" panose="020B0703020202090204" pitchFamily="34" charset="0"/>
              </a:rPr>
              <a:t>2. </a:t>
            </a:r>
            <a:r>
              <a:rPr lang="en-IN" sz="1400" i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Trebuchet MS" panose="020B0703020202090204" pitchFamily="34" charset="0"/>
              </a:rPr>
              <a:t>ReLU</a:t>
            </a:r>
            <a:r>
              <a:rPr lang="en-IN" sz="140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rebuchet MS" panose="020B0703020202090204" pitchFamily="34" charset="0"/>
              </a:rPr>
              <a:t> Activation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latin typeface="Trebuchet MS" panose="020B0703020202090204" pitchFamily="34" charset="0"/>
              </a:rPr>
              <a:t>Introduces non-linearity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latin typeface="Trebuchet MS" panose="020B0703020202090204" pitchFamily="34" charset="0"/>
              </a:rPr>
              <a:t>Helps model learn complex patterns</a:t>
            </a:r>
          </a:p>
          <a:p>
            <a:r>
              <a:rPr lang="en-IN" sz="140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rebuchet MS" panose="020B0703020202090204" pitchFamily="34" charset="0"/>
              </a:rPr>
              <a:t>3. Max Pooling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latin typeface="Trebuchet MS" panose="020B0703020202090204" pitchFamily="34" charset="0"/>
              </a:rPr>
              <a:t>Reduces image size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latin typeface="Trebuchet MS" panose="020B0703020202090204" pitchFamily="34" charset="0"/>
              </a:rPr>
              <a:t>Keeps the strongest features</a:t>
            </a:r>
          </a:p>
          <a:p>
            <a:r>
              <a:rPr lang="en-IN" sz="140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rebuchet MS" panose="020B0703020202090204" pitchFamily="34" charset="0"/>
              </a:rPr>
              <a:t>4. Convolution Layer 2 (Conv2)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latin typeface="Trebuchet MS" panose="020B0703020202090204" pitchFamily="34" charset="0"/>
              </a:rPr>
              <a:t>10 filters of size 3×3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latin typeface="Trebuchet MS" panose="020B0703020202090204" pitchFamily="34" charset="0"/>
              </a:rPr>
              <a:t>Learns deeper patterns (eye shape, mouth curves)</a:t>
            </a:r>
          </a:p>
          <a:p>
            <a:endParaRPr lang="en-IN" sz="1400" i="1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475C885-60B2-9120-25D9-47C52B454880}"/>
              </a:ext>
            </a:extLst>
          </p:cNvPr>
          <p:cNvSpPr/>
          <p:nvPr/>
        </p:nvSpPr>
        <p:spPr>
          <a:xfrm>
            <a:off x="10771137" y="795944"/>
            <a:ext cx="4116840" cy="460612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How the Model Detects Emotions</a:t>
            </a:r>
          </a:p>
          <a:p>
            <a:endParaRPr lang="en-IN" sz="1400" i="1" dirty="0">
              <a:solidFill>
                <a:schemeClr val="tx1"/>
              </a:solidFill>
              <a:latin typeface="Trebuchet MS" panose="020B0703020202090204" pitchFamily="34" charset="0"/>
            </a:endParaRPr>
          </a:p>
          <a:p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Step 1 – Input Face Image</a:t>
            </a:r>
          </a:p>
          <a:p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	The image is passed into the model.</a:t>
            </a:r>
          </a:p>
          <a:p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Step 2 – Feature Extraction (Conv Layers)</a:t>
            </a:r>
          </a:p>
          <a:p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Conv layers detect patterns such as: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Raised eyebrows (surprise)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Curved lips (happy)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Downward mouth corners (sad)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Tightened jaw (angry)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Wide open eyes (fear)</a:t>
            </a:r>
          </a:p>
          <a:p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Step 3 – Region Focus via STN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Important areas: eyes, mouth, nose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Non-important areas: hair, background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STN ignores unnecessary regions.</a:t>
            </a:r>
          </a:p>
          <a:p>
            <a:endParaRPr lang="en-US" sz="1400" i="1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FC01B40-955F-36B2-FA02-0F546B862FBA}"/>
              </a:ext>
            </a:extLst>
          </p:cNvPr>
          <p:cNvSpPr/>
          <p:nvPr/>
        </p:nvSpPr>
        <p:spPr>
          <a:xfrm>
            <a:off x="0" y="5782614"/>
            <a:ext cx="12192000" cy="710261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E2328E4-2808-D7A0-1B98-84048152FED2}"/>
              </a:ext>
            </a:extLst>
          </p:cNvPr>
          <p:cNvSpPr/>
          <p:nvPr/>
        </p:nvSpPr>
        <p:spPr>
          <a:xfrm>
            <a:off x="2533705" y="5782613"/>
            <a:ext cx="734096" cy="710261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C33AFC5-8592-97A2-95B0-ABAEF7D9A5A2}"/>
              </a:ext>
            </a:extLst>
          </p:cNvPr>
          <p:cNvSpPr/>
          <p:nvPr/>
        </p:nvSpPr>
        <p:spPr>
          <a:xfrm>
            <a:off x="5801508" y="795945"/>
            <a:ext cx="4501591" cy="460612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5. </a:t>
            </a:r>
            <a:r>
              <a:rPr lang="en-IN" sz="1400" i="1" dirty="0" err="1">
                <a:solidFill>
                  <a:schemeClr val="tx1"/>
                </a:solidFill>
                <a:latin typeface="Trebuchet MS" panose="020B0703020202090204" pitchFamily="34" charset="0"/>
              </a:rPr>
              <a:t>ReLU</a:t>
            </a: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 + Max Pooling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Same behaviour as above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Extracts robust features</a:t>
            </a:r>
          </a:p>
          <a:p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6. Flattening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Converts extracted features into a vector of size 810</a:t>
            </a:r>
          </a:p>
          <a:p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7. Fully Connected Layer (FC1)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Reduces features from 810 → 50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Learns emotion-specific combinations of features</a:t>
            </a:r>
          </a:p>
          <a:p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8. Fully Connected Layer (FC2)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Final layer with 7 outputs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Each output corresponds to an emotion class</a:t>
            </a:r>
          </a:p>
          <a:p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9. SoftMax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Converts outputs to probabilities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Highest probability = predicted emotion</a:t>
            </a:r>
          </a:p>
        </p:txBody>
      </p:sp>
    </p:spTree>
    <p:extLst>
      <p:ext uri="{BB962C8B-B14F-4D97-AF65-F5344CB8AC3E}">
        <p14:creationId xmlns:p14="http://schemas.microsoft.com/office/powerpoint/2010/main" val="8563740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53B1D-FBD0-8A43-F244-2DDE87640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9610616-58F5-0605-294E-DA214F1109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53036" y="1825625"/>
            <a:ext cx="3685927" cy="4351338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8581DB0-FB23-6067-181B-FA1ACA68A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1F6228D-B834-5988-D6B0-029D87C10DC6}"/>
              </a:ext>
            </a:extLst>
          </p:cNvPr>
          <p:cNvSpPr/>
          <p:nvPr/>
        </p:nvSpPr>
        <p:spPr>
          <a:xfrm>
            <a:off x="-2540146" y="746732"/>
            <a:ext cx="5080292" cy="465533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CNN Architecture (Layer-by-Layer)</a:t>
            </a:r>
          </a:p>
          <a:p>
            <a:endParaRPr lang="en-IN" sz="1400" i="1" dirty="0">
              <a:solidFill>
                <a:schemeClr val="tx1"/>
              </a:solidFill>
              <a:latin typeface="Trebuchet MS" panose="020B0703020202090204" pitchFamily="34" charset="0"/>
            </a:endParaRPr>
          </a:p>
          <a:p>
            <a:pPr marL="342900" indent="-342900">
              <a:buAutoNum type="arabicPeriod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Convolution Layer 1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10 filters of size 3×3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Detects basic features (edges, lines, light/dark patterns)</a:t>
            </a:r>
          </a:p>
          <a:p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2. </a:t>
            </a:r>
            <a:r>
              <a:rPr lang="en-IN" sz="1400" i="1" dirty="0" err="1">
                <a:solidFill>
                  <a:schemeClr val="tx1"/>
                </a:solidFill>
                <a:latin typeface="Trebuchet MS" panose="020B0703020202090204" pitchFamily="34" charset="0"/>
              </a:rPr>
              <a:t>ReLU</a:t>
            </a: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 Activation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Introduces non-linearity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Helps model learn complex patterns</a:t>
            </a:r>
          </a:p>
          <a:p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3. Max Pooling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Reduces image size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Keeps the strongest features</a:t>
            </a:r>
          </a:p>
          <a:p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4. Convolution Layer 2 (Conv2)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10 filters of size 3×3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Learns deeper patterns (eye shape, mouth curves)</a:t>
            </a:r>
          </a:p>
          <a:p>
            <a:endParaRPr lang="en-IN" sz="1400" i="1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475C885-60B2-9120-25D9-47C52B454880}"/>
              </a:ext>
            </a:extLst>
          </p:cNvPr>
          <p:cNvSpPr/>
          <p:nvPr/>
        </p:nvSpPr>
        <p:spPr>
          <a:xfrm>
            <a:off x="9479028" y="795944"/>
            <a:ext cx="4116840" cy="460612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How the Model Detects Emotions</a:t>
            </a:r>
          </a:p>
          <a:p>
            <a:endParaRPr lang="en-IN" sz="1400" i="1" dirty="0">
              <a:solidFill>
                <a:schemeClr val="tx1"/>
              </a:solidFill>
              <a:latin typeface="Trebuchet MS" panose="020B0703020202090204" pitchFamily="34" charset="0"/>
            </a:endParaRPr>
          </a:p>
          <a:p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Step 1 – Input Face Image</a:t>
            </a:r>
          </a:p>
          <a:p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	The image is passed into the model.</a:t>
            </a:r>
          </a:p>
          <a:p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Step 2 – Feature Extraction (Conv Layers)</a:t>
            </a:r>
          </a:p>
          <a:p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Conv layers detect patterns such as: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Raised eyebrows (surprise)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Curved lips (happy)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Downward mouth corners (sad)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Tightened jaw (angry)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Wide open eyes (fear)</a:t>
            </a:r>
          </a:p>
          <a:p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Step 3 – Region Focus via STN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Important areas: eyes, mouth, nose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Non-important areas: hair, background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STN ignores unnecessary regions.</a:t>
            </a:r>
          </a:p>
          <a:p>
            <a:endParaRPr lang="en-US" sz="1400" i="1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FC01B40-955F-36B2-FA02-0F546B862FBA}"/>
              </a:ext>
            </a:extLst>
          </p:cNvPr>
          <p:cNvSpPr/>
          <p:nvPr/>
        </p:nvSpPr>
        <p:spPr>
          <a:xfrm>
            <a:off x="0" y="5782614"/>
            <a:ext cx="12192000" cy="710261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E2328E4-2808-D7A0-1B98-84048152FED2}"/>
              </a:ext>
            </a:extLst>
          </p:cNvPr>
          <p:cNvSpPr/>
          <p:nvPr/>
        </p:nvSpPr>
        <p:spPr>
          <a:xfrm>
            <a:off x="5636999" y="5778233"/>
            <a:ext cx="734096" cy="710261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C33AFC5-8592-97A2-95B0-ABAEF7D9A5A2}"/>
              </a:ext>
            </a:extLst>
          </p:cNvPr>
          <p:cNvSpPr/>
          <p:nvPr/>
        </p:nvSpPr>
        <p:spPr>
          <a:xfrm>
            <a:off x="3753252" y="795944"/>
            <a:ext cx="4501591" cy="460612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rebuchet MS" panose="020B0703020202090204" pitchFamily="34" charset="0"/>
              </a:rPr>
              <a:t>5. </a:t>
            </a:r>
            <a:r>
              <a:rPr lang="en-IN" sz="1400" i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Trebuchet MS" panose="020B0703020202090204" pitchFamily="34" charset="0"/>
              </a:rPr>
              <a:t>ReLU</a:t>
            </a:r>
            <a:r>
              <a:rPr lang="en-IN" sz="140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rebuchet MS" panose="020B0703020202090204" pitchFamily="34" charset="0"/>
              </a:rPr>
              <a:t> + Max Pooling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latin typeface="Trebuchet MS" panose="020B0703020202090204" pitchFamily="34" charset="0"/>
              </a:rPr>
              <a:t>Same behaviour as above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latin typeface="Trebuchet MS" panose="020B0703020202090204" pitchFamily="34" charset="0"/>
              </a:rPr>
              <a:t>Extracts robust features</a:t>
            </a:r>
          </a:p>
          <a:p>
            <a:r>
              <a:rPr lang="en-IN" sz="140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rebuchet MS" panose="020B0703020202090204" pitchFamily="34" charset="0"/>
              </a:rPr>
              <a:t>6. Flattening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latin typeface="Trebuchet MS" panose="020B0703020202090204" pitchFamily="34" charset="0"/>
              </a:rPr>
              <a:t>Converts extracted features into a vector of size 810</a:t>
            </a:r>
          </a:p>
          <a:p>
            <a:r>
              <a:rPr lang="en-IN" sz="140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rebuchet MS" panose="020B0703020202090204" pitchFamily="34" charset="0"/>
              </a:rPr>
              <a:t>7. Fully Connected Layer (FC1)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latin typeface="Trebuchet MS" panose="020B0703020202090204" pitchFamily="34" charset="0"/>
              </a:rPr>
              <a:t>Reduces features from 810 → 50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latin typeface="Trebuchet MS" panose="020B0703020202090204" pitchFamily="34" charset="0"/>
              </a:rPr>
              <a:t>Learns emotion-specific combinations of features</a:t>
            </a:r>
          </a:p>
          <a:p>
            <a:r>
              <a:rPr lang="en-IN" sz="140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rebuchet MS" panose="020B0703020202090204" pitchFamily="34" charset="0"/>
              </a:rPr>
              <a:t>8. Fully Connected Layer (FC2)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latin typeface="Trebuchet MS" panose="020B0703020202090204" pitchFamily="34" charset="0"/>
              </a:rPr>
              <a:t>Final layer with 7 outputs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latin typeface="Trebuchet MS" panose="020B0703020202090204" pitchFamily="34" charset="0"/>
              </a:rPr>
              <a:t>Each output corresponds to an emotion class</a:t>
            </a:r>
          </a:p>
          <a:p>
            <a:r>
              <a:rPr lang="en-IN" sz="140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rebuchet MS" panose="020B0703020202090204" pitchFamily="34" charset="0"/>
              </a:rPr>
              <a:t>9. SoftMax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latin typeface="Trebuchet MS" panose="020B0703020202090204" pitchFamily="34" charset="0"/>
              </a:rPr>
              <a:t>Converts outputs to probabilities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latin typeface="Trebuchet MS" panose="020B0703020202090204" pitchFamily="34" charset="0"/>
              </a:rPr>
              <a:t>Highest probability = predicted emotion</a:t>
            </a:r>
          </a:p>
        </p:txBody>
      </p:sp>
    </p:spTree>
    <p:extLst>
      <p:ext uri="{BB962C8B-B14F-4D97-AF65-F5344CB8AC3E}">
        <p14:creationId xmlns:p14="http://schemas.microsoft.com/office/powerpoint/2010/main" val="25126497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53B1D-FBD0-8A43-F244-2DDE87640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9610616-58F5-0605-294E-DA214F1109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53036" y="1825625"/>
            <a:ext cx="3685927" cy="4351338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8581DB0-FB23-6067-181B-FA1ACA68A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1F6228D-B834-5988-D6B0-029D87C10DC6}"/>
              </a:ext>
            </a:extLst>
          </p:cNvPr>
          <p:cNvSpPr/>
          <p:nvPr/>
        </p:nvSpPr>
        <p:spPr>
          <a:xfrm>
            <a:off x="-3786502" y="762156"/>
            <a:ext cx="5080292" cy="465533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CNN Architecture (Layer-by-Layer)</a:t>
            </a:r>
          </a:p>
          <a:p>
            <a:endParaRPr lang="en-IN" sz="1400" i="1" dirty="0">
              <a:solidFill>
                <a:schemeClr val="tx1"/>
              </a:solidFill>
              <a:latin typeface="Trebuchet MS" panose="020B0703020202090204" pitchFamily="34" charset="0"/>
            </a:endParaRPr>
          </a:p>
          <a:p>
            <a:pPr marL="342900" indent="-342900">
              <a:buAutoNum type="arabicPeriod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Convolution Layer 1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10 filters of size 3×3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Detects basic features (edges, lines, light/dark patterns)</a:t>
            </a:r>
          </a:p>
          <a:p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2. </a:t>
            </a:r>
            <a:r>
              <a:rPr lang="en-IN" sz="1400" i="1" dirty="0" err="1">
                <a:solidFill>
                  <a:schemeClr val="tx1"/>
                </a:solidFill>
                <a:latin typeface="Trebuchet MS" panose="020B0703020202090204" pitchFamily="34" charset="0"/>
              </a:rPr>
              <a:t>ReLU</a:t>
            </a: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 Activation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Introduces non-linearity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Helps model learn complex patterns</a:t>
            </a:r>
          </a:p>
          <a:p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3. Max Pooling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Reduces image size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Keeps the strongest features</a:t>
            </a:r>
          </a:p>
          <a:p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4. Convolution Layer 2 (Conv2)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10 filters of size 3×3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Learns deeper patterns (eye shape, mouth curves)</a:t>
            </a:r>
          </a:p>
          <a:p>
            <a:endParaRPr lang="en-IN" sz="1400" i="1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475C885-60B2-9120-25D9-47C52B454880}"/>
              </a:ext>
            </a:extLst>
          </p:cNvPr>
          <p:cNvSpPr/>
          <p:nvPr/>
        </p:nvSpPr>
        <p:spPr>
          <a:xfrm>
            <a:off x="7305058" y="806987"/>
            <a:ext cx="4116840" cy="460612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i="1" dirty="0">
                <a:solidFill>
                  <a:schemeClr val="accent4"/>
                </a:solidFill>
                <a:latin typeface="Trebuchet MS" panose="020B0703020202090204" pitchFamily="34" charset="0"/>
              </a:rPr>
              <a:t>How the Model Detects Emotions</a:t>
            </a:r>
          </a:p>
          <a:p>
            <a:endParaRPr lang="en-IN" sz="1400" i="1" dirty="0">
              <a:latin typeface="Trebuchet MS" panose="020B0703020202090204" pitchFamily="34" charset="0"/>
            </a:endParaRPr>
          </a:p>
          <a:p>
            <a:r>
              <a:rPr lang="en-IN" sz="14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703020202090204" pitchFamily="34" charset="0"/>
              </a:rPr>
              <a:t>Step 1 – Input Face Image</a:t>
            </a:r>
          </a:p>
          <a:p>
            <a:r>
              <a:rPr lang="en-IN" sz="1400" i="1" dirty="0">
                <a:latin typeface="Trebuchet MS" panose="020B0703020202090204" pitchFamily="34" charset="0"/>
              </a:rPr>
              <a:t>	The image is passed into the model.</a:t>
            </a:r>
          </a:p>
          <a:p>
            <a:r>
              <a:rPr lang="en-IN" sz="14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703020202090204" pitchFamily="34" charset="0"/>
              </a:rPr>
              <a:t>Step 2 – Feature Extraction (Conv Layers)</a:t>
            </a:r>
          </a:p>
          <a:p>
            <a:r>
              <a:rPr lang="en-IN" sz="1400" i="1" dirty="0">
                <a:latin typeface="Trebuchet MS" panose="020B0703020202090204" pitchFamily="34" charset="0"/>
              </a:rPr>
              <a:t>Conv layers detect patterns such as: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latin typeface="Trebuchet MS" panose="020B0703020202090204" pitchFamily="34" charset="0"/>
              </a:rPr>
              <a:t>Raised eyebrows (surprise)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latin typeface="Trebuchet MS" panose="020B0703020202090204" pitchFamily="34" charset="0"/>
              </a:rPr>
              <a:t>Curved lips (happy)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latin typeface="Trebuchet MS" panose="020B0703020202090204" pitchFamily="34" charset="0"/>
              </a:rPr>
              <a:t>Downward mouth corners (sad)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latin typeface="Trebuchet MS" panose="020B0703020202090204" pitchFamily="34" charset="0"/>
              </a:rPr>
              <a:t>Tightened jaw (angry)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latin typeface="Trebuchet MS" panose="020B0703020202090204" pitchFamily="34" charset="0"/>
              </a:rPr>
              <a:t>Wide open eyes (fear)</a:t>
            </a:r>
          </a:p>
          <a:p>
            <a:r>
              <a:rPr lang="en-IN" sz="14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703020202090204" pitchFamily="34" charset="0"/>
              </a:rPr>
              <a:t>Step 3 – Region Focus via STN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latin typeface="Trebuchet MS" panose="020B0703020202090204" pitchFamily="34" charset="0"/>
              </a:rPr>
              <a:t>Important areas: eyes, mouth, nose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latin typeface="Trebuchet MS" panose="020B0703020202090204" pitchFamily="34" charset="0"/>
              </a:rPr>
              <a:t>Non-important areas: hair, background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latin typeface="Trebuchet MS" panose="020B0703020202090204" pitchFamily="34" charset="0"/>
              </a:rPr>
              <a:t>STN ignores unnecessary regions.</a:t>
            </a:r>
          </a:p>
          <a:p>
            <a:endParaRPr lang="en-US" sz="1400" i="1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FC01B40-955F-36B2-FA02-0F546B862FBA}"/>
              </a:ext>
            </a:extLst>
          </p:cNvPr>
          <p:cNvSpPr/>
          <p:nvPr/>
        </p:nvSpPr>
        <p:spPr>
          <a:xfrm>
            <a:off x="0" y="5782614"/>
            <a:ext cx="12192000" cy="710261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E2328E4-2808-D7A0-1B98-84048152FED2}"/>
              </a:ext>
            </a:extLst>
          </p:cNvPr>
          <p:cNvSpPr/>
          <p:nvPr/>
        </p:nvSpPr>
        <p:spPr>
          <a:xfrm>
            <a:off x="8996430" y="5766041"/>
            <a:ext cx="734096" cy="710261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C33AFC5-8592-97A2-95B0-ABAEF7D9A5A2}"/>
              </a:ext>
            </a:extLst>
          </p:cNvPr>
          <p:cNvSpPr/>
          <p:nvPr/>
        </p:nvSpPr>
        <p:spPr>
          <a:xfrm>
            <a:off x="1869504" y="806987"/>
            <a:ext cx="4501591" cy="460612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5. </a:t>
            </a:r>
            <a:r>
              <a:rPr lang="en-IN" sz="1400" i="1" dirty="0" err="1">
                <a:solidFill>
                  <a:schemeClr val="tx1"/>
                </a:solidFill>
                <a:latin typeface="Trebuchet MS" panose="020B0703020202090204" pitchFamily="34" charset="0"/>
              </a:rPr>
              <a:t>ReLU</a:t>
            </a: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 + Max Pooling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Same behaviour as above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Extracts robust features</a:t>
            </a:r>
          </a:p>
          <a:p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6. Flattening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Converts extracted features into a vector of size 810</a:t>
            </a:r>
          </a:p>
          <a:p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7. Fully Connected Layer (FC1)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Reduces features from 810 → 50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Learns emotion-specific combinations of features</a:t>
            </a:r>
          </a:p>
          <a:p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8. Fully Connected Layer (FC2)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Final layer with 7 outputs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Each output corresponds to an emotion class</a:t>
            </a:r>
          </a:p>
          <a:p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9. SoftMax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Converts outputs to probabilities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tx1"/>
                </a:solidFill>
                <a:latin typeface="Trebuchet MS" panose="020B0703020202090204" pitchFamily="34" charset="0"/>
              </a:rPr>
              <a:t>Highest probability = predicted emotion</a:t>
            </a:r>
          </a:p>
        </p:txBody>
      </p:sp>
    </p:spTree>
    <p:extLst>
      <p:ext uri="{BB962C8B-B14F-4D97-AF65-F5344CB8AC3E}">
        <p14:creationId xmlns:p14="http://schemas.microsoft.com/office/powerpoint/2010/main" val="30166393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53B1D-FBD0-8A43-F244-2DDE87640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9610616-58F5-0605-294E-DA214F1109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53036" y="1825625"/>
            <a:ext cx="3685927" cy="4351338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8581DB0-FB23-6067-181B-FA1ACA68A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1F6228D-B834-5988-D6B0-029D87C10DC6}"/>
              </a:ext>
            </a:extLst>
          </p:cNvPr>
          <p:cNvSpPr/>
          <p:nvPr/>
        </p:nvSpPr>
        <p:spPr>
          <a:xfrm>
            <a:off x="360607" y="811369"/>
            <a:ext cx="5080292" cy="465533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703020202090204" pitchFamily="34" charset="0"/>
              </a:rPr>
              <a:t>Step 4 – Emotion-Specific Feature Mapping</a:t>
            </a:r>
          </a:p>
          <a:p>
            <a:r>
              <a:rPr lang="en-IN" sz="16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rebuchet MS" panose="020B0703020202090204" pitchFamily="34" charset="0"/>
              </a:rPr>
              <a:t>FC layers map features to emotions: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i="1" dirty="0">
                <a:solidFill>
                  <a:schemeClr val="accent4">
                    <a:lumMod val="40000"/>
                    <a:lumOff val="60000"/>
                  </a:schemeClr>
                </a:solidFill>
                <a:latin typeface="Trebuchet MS" panose="020B0703020202090204" pitchFamily="34" charset="0"/>
              </a:rPr>
              <a:t>Happy</a:t>
            </a:r>
            <a:r>
              <a:rPr lang="en-IN" sz="1600" i="1" dirty="0">
                <a:latin typeface="Trebuchet MS" panose="020B0703020202090204" pitchFamily="34" charset="0"/>
              </a:rPr>
              <a:t> → upward mouth curve, cheek lift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i="1" dirty="0">
                <a:solidFill>
                  <a:schemeClr val="accent4">
                    <a:lumMod val="40000"/>
                    <a:lumOff val="60000"/>
                  </a:schemeClr>
                </a:solidFill>
                <a:latin typeface="Trebuchet MS" panose="020B0703020202090204" pitchFamily="34" charset="0"/>
              </a:rPr>
              <a:t>Sad </a:t>
            </a:r>
            <a:r>
              <a:rPr lang="en-IN" sz="1600" i="1" dirty="0">
                <a:latin typeface="Trebuchet MS" panose="020B0703020202090204" pitchFamily="34" charset="0"/>
              </a:rPr>
              <a:t>→ downward mouth curve, droopy eyes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i="1" dirty="0">
                <a:solidFill>
                  <a:schemeClr val="accent4">
                    <a:lumMod val="40000"/>
                    <a:lumOff val="60000"/>
                  </a:schemeClr>
                </a:solidFill>
                <a:latin typeface="Trebuchet MS" panose="020B0703020202090204" pitchFamily="34" charset="0"/>
              </a:rPr>
              <a:t>Angry</a:t>
            </a:r>
            <a:r>
              <a:rPr lang="en-IN" sz="1600" i="1" dirty="0">
                <a:latin typeface="Trebuchet MS" panose="020B0703020202090204" pitchFamily="34" charset="0"/>
              </a:rPr>
              <a:t> → tight lips, furrowed eyebrows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i="1" dirty="0">
                <a:solidFill>
                  <a:schemeClr val="accent4">
                    <a:lumMod val="40000"/>
                    <a:lumOff val="60000"/>
                  </a:schemeClr>
                </a:solidFill>
                <a:latin typeface="Trebuchet MS" panose="020B0703020202090204" pitchFamily="34" charset="0"/>
              </a:rPr>
              <a:t>Surprise</a:t>
            </a:r>
            <a:r>
              <a:rPr lang="en-IN" sz="1600" i="1" dirty="0">
                <a:latin typeface="Trebuchet MS" panose="020B0703020202090204" pitchFamily="34" charset="0"/>
              </a:rPr>
              <a:t> → wide open eyes, raised eyebrows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i="1" dirty="0">
                <a:solidFill>
                  <a:schemeClr val="accent4">
                    <a:lumMod val="40000"/>
                    <a:lumOff val="60000"/>
                  </a:schemeClr>
                </a:solidFill>
                <a:latin typeface="Trebuchet MS" panose="020B0703020202090204" pitchFamily="34" charset="0"/>
              </a:rPr>
              <a:t>Fear</a:t>
            </a:r>
            <a:r>
              <a:rPr lang="en-IN" sz="1600" i="1" dirty="0">
                <a:latin typeface="Trebuchet MS" panose="020B0703020202090204" pitchFamily="34" charset="0"/>
              </a:rPr>
              <a:t> → widened eyes + stretched mouth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i="1" dirty="0">
                <a:solidFill>
                  <a:schemeClr val="accent4">
                    <a:lumMod val="40000"/>
                    <a:lumOff val="60000"/>
                  </a:schemeClr>
                </a:solidFill>
                <a:latin typeface="Trebuchet MS" panose="020B0703020202090204" pitchFamily="34" charset="0"/>
              </a:rPr>
              <a:t>Disgust</a:t>
            </a:r>
            <a:r>
              <a:rPr lang="en-IN" sz="1600" i="1" dirty="0">
                <a:latin typeface="Trebuchet MS" panose="020B0703020202090204" pitchFamily="34" charset="0"/>
              </a:rPr>
              <a:t> → nose wrinkle + raised upper lip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i="1" dirty="0">
                <a:solidFill>
                  <a:schemeClr val="accent4">
                    <a:lumMod val="40000"/>
                    <a:lumOff val="60000"/>
                  </a:schemeClr>
                </a:solidFill>
                <a:latin typeface="Trebuchet MS" panose="020B0703020202090204" pitchFamily="34" charset="0"/>
              </a:rPr>
              <a:t>Neutral</a:t>
            </a:r>
            <a:r>
              <a:rPr lang="en-IN" sz="1600" i="1" dirty="0">
                <a:latin typeface="Trebuchet MS" panose="020B0703020202090204" pitchFamily="34" charset="0"/>
              </a:rPr>
              <a:t> → no significant muscle tension</a:t>
            </a:r>
          </a:p>
          <a:p>
            <a:r>
              <a:rPr lang="en-IN" sz="16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703020202090204" pitchFamily="34" charset="0"/>
              </a:rPr>
              <a:t>Step 5 – SoftMax Prediction</a:t>
            </a:r>
          </a:p>
          <a:p>
            <a:r>
              <a:rPr lang="en-IN" sz="1600" i="1" dirty="0">
                <a:latin typeface="Trebuchet MS" panose="020B0703020202090204" pitchFamily="34" charset="0"/>
              </a:rPr>
              <a:t>The model outputs 7 probabilities:</a:t>
            </a:r>
            <a:br>
              <a:rPr lang="en-IN" sz="1600" i="1" dirty="0">
                <a:latin typeface="Trebuchet MS" panose="020B0703020202090204" pitchFamily="34" charset="0"/>
              </a:rPr>
            </a:br>
            <a:r>
              <a:rPr lang="en-IN" sz="16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703020202090204" pitchFamily="34" charset="0"/>
              </a:rPr>
              <a:t>Example:</a:t>
            </a:r>
            <a:br>
              <a:rPr lang="en-IN" sz="1600" i="1" dirty="0">
                <a:latin typeface="Trebuchet MS" panose="020B0703020202090204" pitchFamily="34" charset="0"/>
              </a:rPr>
            </a:br>
            <a:r>
              <a:rPr lang="en-IN" sz="1600" i="1" dirty="0">
                <a:latin typeface="Trebuchet MS" panose="020B0703020202090204" pitchFamily="34" charset="0"/>
              </a:rPr>
              <a:t>Happy: 0.82, Sad: 0.05, Angry: 0.03 …</a:t>
            </a:r>
            <a:br>
              <a:rPr lang="en-IN" sz="1600" i="1" dirty="0">
                <a:latin typeface="Trebuchet MS" panose="020B0703020202090204" pitchFamily="34" charset="0"/>
              </a:rPr>
            </a:br>
            <a:r>
              <a:rPr lang="en-IN" sz="1600" i="1" dirty="0">
                <a:latin typeface="Trebuchet MS" panose="020B0703020202090204" pitchFamily="34" charset="0"/>
              </a:rPr>
              <a:t>Highest value → final emotion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475C885-60B2-9120-25D9-47C52B454880}"/>
              </a:ext>
            </a:extLst>
          </p:cNvPr>
          <p:cNvSpPr/>
          <p:nvPr/>
        </p:nvSpPr>
        <p:spPr>
          <a:xfrm>
            <a:off x="6751103" y="860581"/>
            <a:ext cx="4116840" cy="460612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i="1" dirty="0">
                <a:solidFill>
                  <a:schemeClr val="tx1"/>
                </a:solidFill>
                <a:latin typeface="Trebuchet MS" panose="020B0703020202090204" pitchFamily="34" charset="0"/>
              </a:rPr>
              <a:t>Results &amp; Comparison</a:t>
            </a:r>
          </a:p>
          <a:p>
            <a:endParaRPr lang="en-IN" sz="1600" i="1" dirty="0">
              <a:solidFill>
                <a:schemeClr val="tx1"/>
              </a:solidFill>
              <a:latin typeface="Trebuchet MS" panose="020B0703020202090204" pitchFamily="34" charset="0"/>
            </a:endParaRPr>
          </a:p>
          <a:p>
            <a:r>
              <a:rPr lang="en-IN" sz="1600" i="1" dirty="0">
                <a:solidFill>
                  <a:schemeClr val="tx1"/>
                </a:solidFill>
                <a:latin typeface="Trebuchet MS" panose="020B0703020202090204" pitchFamily="34" charset="0"/>
              </a:rPr>
              <a:t>FER2013 Accuracy: 70.02%</a:t>
            </a:r>
          </a:p>
          <a:p>
            <a:endParaRPr lang="en-IN" sz="1600" b="1" dirty="0">
              <a:solidFill>
                <a:schemeClr val="tx1"/>
              </a:solidFill>
            </a:endParaRPr>
          </a:p>
          <a:p>
            <a:endParaRPr lang="en-IN" sz="1600" b="1" dirty="0">
              <a:solidFill>
                <a:schemeClr val="tx1"/>
              </a:solidFill>
            </a:endParaRPr>
          </a:p>
          <a:p>
            <a:endParaRPr lang="en-IN" sz="1600" b="1" dirty="0">
              <a:solidFill>
                <a:schemeClr val="tx1"/>
              </a:solidFill>
            </a:endParaRPr>
          </a:p>
          <a:p>
            <a:endParaRPr lang="en-IN" sz="1600" b="1" dirty="0">
              <a:solidFill>
                <a:schemeClr val="tx1"/>
              </a:solidFill>
            </a:endParaRPr>
          </a:p>
          <a:p>
            <a:endParaRPr lang="en-IN" sz="1600" b="1" dirty="0">
              <a:solidFill>
                <a:schemeClr val="tx1"/>
              </a:solidFill>
            </a:endParaRPr>
          </a:p>
          <a:p>
            <a:endParaRPr lang="en-IN" sz="1600" b="1" dirty="0">
              <a:solidFill>
                <a:schemeClr val="tx1"/>
              </a:solidFill>
            </a:endParaRPr>
          </a:p>
          <a:p>
            <a:endParaRPr lang="en-IN" sz="1600" b="1" dirty="0">
              <a:solidFill>
                <a:schemeClr val="tx1"/>
              </a:solidFill>
            </a:endParaRPr>
          </a:p>
          <a:p>
            <a:endParaRPr lang="en-IN" sz="1600" b="1" dirty="0">
              <a:solidFill>
                <a:schemeClr val="tx1"/>
              </a:solidFill>
            </a:endParaRPr>
          </a:p>
          <a:p>
            <a:endParaRPr lang="en-IN" sz="1600" b="1" dirty="0">
              <a:solidFill>
                <a:schemeClr val="tx1"/>
              </a:solidFill>
            </a:endParaRPr>
          </a:p>
          <a:p>
            <a:endParaRPr lang="en-IN" sz="1600" b="1" dirty="0">
              <a:solidFill>
                <a:schemeClr val="tx1"/>
              </a:solidFill>
            </a:endParaRPr>
          </a:p>
          <a:p>
            <a:endParaRPr lang="en-IN" sz="1600" b="1" dirty="0">
              <a:solidFill>
                <a:schemeClr val="tx1"/>
              </a:solidFill>
            </a:endParaRPr>
          </a:p>
          <a:p>
            <a:endParaRPr lang="en-IN" sz="1600" b="1" dirty="0">
              <a:solidFill>
                <a:schemeClr val="tx1"/>
              </a:solidFill>
            </a:endParaRPr>
          </a:p>
          <a:p>
            <a:endParaRPr lang="en-IN" sz="1600" b="1" dirty="0">
              <a:solidFill>
                <a:schemeClr val="tx1"/>
              </a:solidFill>
            </a:endParaRPr>
          </a:p>
          <a:p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FC01B40-955F-36B2-FA02-0F546B862FBA}"/>
              </a:ext>
            </a:extLst>
          </p:cNvPr>
          <p:cNvSpPr/>
          <p:nvPr/>
        </p:nvSpPr>
        <p:spPr>
          <a:xfrm>
            <a:off x="0" y="5782614"/>
            <a:ext cx="12192000" cy="710261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E2328E4-2808-D7A0-1B98-84048152FED2}"/>
              </a:ext>
            </a:extLst>
          </p:cNvPr>
          <p:cNvSpPr/>
          <p:nvPr/>
        </p:nvSpPr>
        <p:spPr>
          <a:xfrm>
            <a:off x="2533705" y="5782613"/>
            <a:ext cx="734096" cy="710261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9CCF953-99B2-CDCA-7FE6-2BBAEFB40C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978057"/>
              </p:ext>
            </p:extLst>
          </p:nvPr>
        </p:nvGraphicFramePr>
        <p:xfrm>
          <a:off x="6946075" y="2004084"/>
          <a:ext cx="3726896" cy="2818270"/>
        </p:xfrm>
        <a:graphic>
          <a:graphicData uri="http://schemas.openxmlformats.org/drawingml/2006/table">
            <a:tbl>
              <a:tblPr/>
              <a:tblGrid>
                <a:gridCol w="1863448">
                  <a:extLst>
                    <a:ext uri="{9D8B030D-6E8A-4147-A177-3AD203B41FA5}">
                      <a16:colId xmlns:a16="http://schemas.microsoft.com/office/drawing/2014/main" val="3952097990"/>
                    </a:ext>
                  </a:extLst>
                </a:gridCol>
                <a:gridCol w="1863448">
                  <a:extLst>
                    <a:ext uri="{9D8B030D-6E8A-4147-A177-3AD203B41FA5}">
                      <a16:colId xmlns:a16="http://schemas.microsoft.com/office/drawing/2014/main" val="1163109139"/>
                    </a:ext>
                  </a:extLst>
                </a:gridCol>
              </a:tblGrid>
              <a:tr h="392418">
                <a:tc>
                  <a:txBody>
                    <a:bodyPr/>
                    <a:lstStyle/>
                    <a:p>
                      <a:r>
                        <a:rPr lang="en-IN" sz="1600" b="0" i="1">
                          <a:solidFill>
                            <a:schemeClr val="tx1"/>
                          </a:solidFill>
                          <a:latin typeface="Trebuchet MS" panose="020B0703020202090204" pitchFamily="34" charset="0"/>
                        </a:rPr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0" i="1" dirty="0">
                          <a:solidFill>
                            <a:schemeClr val="tx1"/>
                          </a:solidFill>
                          <a:latin typeface="Trebuchet MS" panose="020B0703020202090204" pitchFamily="34" charset="0"/>
                        </a:rPr>
                        <a:t>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9618329"/>
                  </a:ext>
                </a:extLst>
              </a:tr>
              <a:tr h="392418">
                <a:tc>
                  <a:txBody>
                    <a:bodyPr/>
                    <a:lstStyle/>
                    <a:p>
                      <a:r>
                        <a:rPr lang="en-IN" sz="1600" b="0" i="1" dirty="0">
                          <a:solidFill>
                            <a:schemeClr val="tx1"/>
                          </a:solidFill>
                          <a:latin typeface="Trebuchet MS" panose="020B0703020202090204" pitchFamily="34" charset="0"/>
                        </a:rPr>
                        <a:t>Bag of Words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0" i="1" dirty="0">
                          <a:solidFill>
                            <a:schemeClr val="tx1"/>
                          </a:solidFill>
                          <a:latin typeface="Trebuchet MS" panose="020B0703020202090204" pitchFamily="34" charset="0"/>
                        </a:rPr>
                        <a:t>67.4%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6314538"/>
                  </a:ext>
                </a:extLst>
              </a:tr>
              <a:tr h="392418">
                <a:tc>
                  <a:txBody>
                    <a:bodyPr/>
                    <a:lstStyle/>
                    <a:p>
                      <a:r>
                        <a:rPr lang="en-IN" sz="1600" b="0" i="1" dirty="0">
                          <a:solidFill>
                            <a:schemeClr val="tx1"/>
                          </a:solidFill>
                          <a:latin typeface="Trebuchet MS" panose="020B0703020202090204" pitchFamily="34" charset="0"/>
                        </a:rPr>
                        <a:t>VGG + SVM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0" i="1">
                          <a:solidFill>
                            <a:schemeClr val="tx1"/>
                          </a:solidFill>
                          <a:latin typeface="Trebuchet MS" panose="020B0703020202090204" pitchFamily="34" charset="0"/>
                        </a:rPr>
                        <a:t>66.31%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9086813"/>
                  </a:ext>
                </a:extLst>
              </a:tr>
              <a:tr h="392418">
                <a:tc>
                  <a:txBody>
                    <a:bodyPr/>
                    <a:lstStyle/>
                    <a:p>
                      <a:r>
                        <a:rPr lang="en-IN" sz="1600" b="0" i="1" dirty="0">
                          <a:solidFill>
                            <a:schemeClr val="tx1"/>
                          </a:solidFill>
                          <a:latin typeface="Trebuchet MS" panose="020B0703020202090204" pitchFamily="34" charset="0"/>
                        </a:rPr>
                        <a:t>Google Net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0" i="1">
                          <a:solidFill>
                            <a:schemeClr val="tx1"/>
                          </a:solidFill>
                          <a:latin typeface="Trebuchet MS" panose="020B0703020202090204" pitchFamily="34" charset="0"/>
                        </a:rPr>
                        <a:t>65.2%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0475855"/>
                  </a:ext>
                </a:extLst>
              </a:tr>
              <a:tr h="624299">
                <a:tc>
                  <a:txBody>
                    <a:bodyPr/>
                    <a:lstStyle/>
                    <a:p>
                      <a:r>
                        <a:rPr lang="en-IN" sz="1600" b="0" i="1" dirty="0">
                          <a:solidFill>
                            <a:schemeClr val="tx1"/>
                          </a:solidFill>
                          <a:latin typeface="Trebuchet MS" panose="020B0703020202090204" pitchFamily="34" charset="0"/>
                        </a:rPr>
                        <a:t>Mollahosseini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0" i="1" dirty="0">
                          <a:solidFill>
                            <a:schemeClr val="tx1"/>
                          </a:solidFill>
                          <a:latin typeface="Trebuchet MS" panose="020B0703020202090204" pitchFamily="34" charset="0"/>
                        </a:rPr>
                        <a:t>66.4%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5344022"/>
                  </a:ext>
                </a:extLst>
              </a:tr>
              <a:tr h="624299">
                <a:tc>
                  <a:txBody>
                    <a:bodyPr/>
                    <a:lstStyle/>
                    <a:p>
                      <a:r>
                        <a:rPr lang="en-IN" sz="1600" b="0" i="1" dirty="0">
                          <a:solidFill>
                            <a:schemeClr val="tx1"/>
                          </a:solidFill>
                          <a:latin typeface="Trebuchet MS" panose="020B0703020202090204" pitchFamily="34" charset="0"/>
                        </a:rPr>
                        <a:t>Your Proposed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0" i="1" dirty="0">
                          <a:solidFill>
                            <a:schemeClr val="tx1"/>
                          </a:solidFill>
                          <a:latin typeface="Trebuchet MS" panose="020B0703020202090204" pitchFamily="34" charset="0"/>
                        </a:rPr>
                        <a:t>70.02%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18435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40675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53B1D-FBD0-8A43-F244-2DDE87640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9610616-58F5-0605-294E-DA214F1109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53036" y="1825625"/>
            <a:ext cx="3685927" cy="4351338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8581DB0-FB23-6067-181B-FA1ACA68A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1F6228D-B834-5988-D6B0-029D87C10DC6}"/>
              </a:ext>
            </a:extLst>
          </p:cNvPr>
          <p:cNvSpPr/>
          <p:nvPr/>
        </p:nvSpPr>
        <p:spPr>
          <a:xfrm>
            <a:off x="360607" y="811369"/>
            <a:ext cx="5080292" cy="465533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i="1" dirty="0">
                <a:solidFill>
                  <a:schemeClr val="tx1"/>
                </a:solidFill>
                <a:latin typeface="Trebuchet MS" panose="020B0703020202090204" pitchFamily="34" charset="0"/>
              </a:rPr>
              <a:t>Step 4 – Emotion-Specific Feature Mapping</a:t>
            </a:r>
          </a:p>
          <a:p>
            <a:r>
              <a:rPr lang="en-IN" sz="1600" i="1" dirty="0">
                <a:solidFill>
                  <a:schemeClr val="tx1"/>
                </a:solidFill>
                <a:latin typeface="Trebuchet MS" panose="020B0703020202090204" pitchFamily="34" charset="0"/>
              </a:rPr>
              <a:t>FC layers map features to emotions: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i="1" dirty="0">
                <a:solidFill>
                  <a:schemeClr val="tx1"/>
                </a:solidFill>
                <a:latin typeface="Trebuchet MS" panose="020B0703020202090204" pitchFamily="34" charset="0"/>
              </a:rPr>
              <a:t>Happy → upward mouth curve, cheek lift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i="1" dirty="0">
                <a:solidFill>
                  <a:schemeClr val="tx1"/>
                </a:solidFill>
                <a:latin typeface="Trebuchet MS" panose="020B0703020202090204" pitchFamily="34" charset="0"/>
              </a:rPr>
              <a:t>Sad → downward mouth curve, droopy eyes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i="1" dirty="0">
                <a:solidFill>
                  <a:schemeClr val="tx1"/>
                </a:solidFill>
                <a:latin typeface="Trebuchet MS" panose="020B0703020202090204" pitchFamily="34" charset="0"/>
              </a:rPr>
              <a:t>Angry → tight lips, furrowed eyebrows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i="1" dirty="0">
                <a:solidFill>
                  <a:schemeClr val="tx1"/>
                </a:solidFill>
                <a:latin typeface="Trebuchet MS" panose="020B0703020202090204" pitchFamily="34" charset="0"/>
              </a:rPr>
              <a:t>Surprise → wide open eyes, raised eyebrows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i="1" dirty="0">
                <a:solidFill>
                  <a:schemeClr val="tx1"/>
                </a:solidFill>
                <a:latin typeface="Trebuchet MS" panose="020B0703020202090204" pitchFamily="34" charset="0"/>
              </a:rPr>
              <a:t>Fear → widened eyes + stretched mouth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i="1" dirty="0">
                <a:solidFill>
                  <a:schemeClr val="tx1"/>
                </a:solidFill>
                <a:latin typeface="Trebuchet MS" panose="020B0703020202090204" pitchFamily="34" charset="0"/>
              </a:rPr>
              <a:t>Disgust → nose wrinkle + raised upper lip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i="1" dirty="0">
                <a:solidFill>
                  <a:schemeClr val="tx1"/>
                </a:solidFill>
                <a:latin typeface="Trebuchet MS" panose="020B0703020202090204" pitchFamily="34" charset="0"/>
              </a:rPr>
              <a:t>Neutral → no significant muscle tension</a:t>
            </a:r>
          </a:p>
          <a:p>
            <a:r>
              <a:rPr lang="en-IN" sz="1600" i="1" dirty="0">
                <a:solidFill>
                  <a:schemeClr val="tx1"/>
                </a:solidFill>
                <a:latin typeface="Trebuchet MS" panose="020B0703020202090204" pitchFamily="34" charset="0"/>
              </a:rPr>
              <a:t>Step 5 – SoftMax Prediction</a:t>
            </a:r>
          </a:p>
          <a:p>
            <a:r>
              <a:rPr lang="en-IN" sz="1600" i="1" dirty="0">
                <a:solidFill>
                  <a:schemeClr val="tx1"/>
                </a:solidFill>
                <a:latin typeface="Trebuchet MS" panose="020B0703020202090204" pitchFamily="34" charset="0"/>
              </a:rPr>
              <a:t>The model outputs 7 probabilities:</a:t>
            </a:r>
            <a:br>
              <a:rPr lang="en-IN" sz="1600" i="1" dirty="0">
                <a:solidFill>
                  <a:schemeClr val="tx1"/>
                </a:solidFill>
                <a:latin typeface="Trebuchet MS" panose="020B0703020202090204" pitchFamily="34" charset="0"/>
              </a:rPr>
            </a:br>
            <a:r>
              <a:rPr lang="en-IN" sz="1600" i="1" dirty="0">
                <a:solidFill>
                  <a:schemeClr val="tx1"/>
                </a:solidFill>
                <a:latin typeface="Trebuchet MS" panose="020B0703020202090204" pitchFamily="34" charset="0"/>
              </a:rPr>
              <a:t>Example:</a:t>
            </a:r>
            <a:br>
              <a:rPr lang="en-IN" sz="1600" i="1" dirty="0">
                <a:solidFill>
                  <a:schemeClr val="tx1"/>
                </a:solidFill>
                <a:latin typeface="Trebuchet MS" panose="020B0703020202090204" pitchFamily="34" charset="0"/>
              </a:rPr>
            </a:br>
            <a:r>
              <a:rPr lang="en-IN" sz="1600" i="1" dirty="0">
                <a:solidFill>
                  <a:schemeClr val="tx1"/>
                </a:solidFill>
                <a:latin typeface="Trebuchet MS" panose="020B0703020202090204" pitchFamily="34" charset="0"/>
              </a:rPr>
              <a:t>Happy: 0.82, Sad: 0.05, Angry: 0.03 …</a:t>
            </a:r>
            <a:br>
              <a:rPr lang="en-IN" sz="1600" i="1" dirty="0">
                <a:solidFill>
                  <a:schemeClr val="tx1"/>
                </a:solidFill>
                <a:latin typeface="Trebuchet MS" panose="020B0703020202090204" pitchFamily="34" charset="0"/>
              </a:rPr>
            </a:br>
            <a:r>
              <a:rPr lang="en-IN" sz="1600" i="1" dirty="0">
                <a:solidFill>
                  <a:schemeClr val="tx1"/>
                </a:solidFill>
                <a:latin typeface="Trebuchet MS" panose="020B0703020202090204" pitchFamily="34" charset="0"/>
              </a:rPr>
              <a:t>Highest value → final emotion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475C885-60B2-9120-25D9-47C52B454880}"/>
              </a:ext>
            </a:extLst>
          </p:cNvPr>
          <p:cNvSpPr/>
          <p:nvPr/>
        </p:nvSpPr>
        <p:spPr>
          <a:xfrm>
            <a:off x="6751103" y="860581"/>
            <a:ext cx="4116840" cy="460612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i="1" dirty="0">
                <a:solidFill>
                  <a:schemeClr val="accent4"/>
                </a:solidFill>
                <a:latin typeface="Trebuchet MS" panose="020B0703020202090204" pitchFamily="34" charset="0"/>
              </a:rPr>
              <a:t>Results &amp; Comparison</a:t>
            </a:r>
          </a:p>
          <a:p>
            <a:endParaRPr lang="en-IN" sz="1600" i="1" dirty="0">
              <a:latin typeface="Trebuchet MS" panose="020B0703020202090204" pitchFamily="34" charset="0"/>
            </a:endParaRPr>
          </a:p>
          <a:p>
            <a:r>
              <a:rPr lang="en-IN" sz="1600" i="1" dirty="0">
                <a:latin typeface="Trebuchet MS" panose="020B0703020202090204" pitchFamily="34" charset="0"/>
              </a:rPr>
              <a:t>FER2013 Accuracy: </a:t>
            </a:r>
            <a:r>
              <a:rPr lang="en-IN" sz="1600" i="1" dirty="0">
                <a:solidFill>
                  <a:schemeClr val="accent4">
                    <a:lumMod val="40000"/>
                    <a:lumOff val="60000"/>
                  </a:schemeClr>
                </a:solidFill>
                <a:latin typeface="Trebuchet MS" panose="020B0703020202090204" pitchFamily="34" charset="0"/>
              </a:rPr>
              <a:t>70.02%</a:t>
            </a:r>
          </a:p>
          <a:p>
            <a:endParaRPr lang="en-IN" sz="1600" b="1" dirty="0">
              <a:solidFill>
                <a:schemeClr val="tx1"/>
              </a:solidFill>
            </a:endParaRPr>
          </a:p>
          <a:p>
            <a:endParaRPr lang="en-IN" sz="1600" b="1" dirty="0">
              <a:solidFill>
                <a:schemeClr val="tx1"/>
              </a:solidFill>
            </a:endParaRPr>
          </a:p>
          <a:p>
            <a:endParaRPr lang="en-IN" sz="1600" b="1" dirty="0">
              <a:solidFill>
                <a:schemeClr val="tx1"/>
              </a:solidFill>
            </a:endParaRPr>
          </a:p>
          <a:p>
            <a:endParaRPr lang="en-IN" sz="1600" b="1" dirty="0">
              <a:solidFill>
                <a:schemeClr val="tx1"/>
              </a:solidFill>
            </a:endParaRPr>
          </a:p>
          <a:p>
            <a:endParaRPr lang="en-IN" sz="1600" b="1" dirty="0">
              <a:solidFill>
                <a:schemeClr val="tx1"/>
              </a:solidFill>
            </a:endParaRPr>
          </a:p>
          <a:p>
            <a:endParaRPr lang="en-IN" sz="1600" b="1" dirty="0">
              <a:solidFill>
                <a:schemeClr val="tx1"/>
              </a:solidFill>
            </a:endParaRPr>
          </a:p>
          <a:p>
            <a:endParaRPr lang="en-IN" sz="1600" b="1" dirty="0">
              <a:solidFill>
                <a:schemeClr val="tx1"/>
              </a:solidFill>
            </a:endParaRPr>
          </a:p>
          <a:p>
            <a:endParaRPr lang="en-IN" sz="1600" b="1" dirty="0">
              <a:solidFill>
                <a:schemeClr val="tx1"/>
              </a:solidFill>
            </a:endParaRPr>
          </a:p>
          <a:p>
            <a:endParaRPr lang="en-IN" sz="1600" b="1" dirty="0">
              <a:solidFill>
                <a:schemeClr val="tx1"/>
              </a:solidFill>
            </a:endParaRPr>
          </a:p>
          <a:p>
            <a:endParaRPr lang="en-IN" sz="1600" b="1" dirty="0">
              <a:solidFill>
                <a:schemeClr val="tx1"/>
              </a:solidFill>
            </a:endParaRPr>
          </a:p>
          <a:p>
            <a:endParaRPr lang="en-IN" sz="1600" b="1" dirty="0">
              <a:solidFill>
                <a:schemeClr val="tx1"/>
              </a:solidFill>
            </a:endParaRPr>
          </a:p>
          <a:p>
            <a:endParaRPr lang="en-IN" sz="1600" b="1" dirty="0">
              <a:solidFill>
                <a:schemeClr val="tx1"/>
              </a:solidFill>
            </a:endParaRPr>
          </a:p>
          <a:p>
            <a:endParaRPr lang="en-IN" sz="1600" b="1" dirty="0">
              <a:solidFill>
                <a:schemeClr val="tx1"/>
              </a:solidFill>
            </a:endParaRPr>
          </a:p>
          <a:p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FC01B40-955F-36B2-FA02-0F546B862FBA}"/>
              </a:ext>
            </a:extLst>
          </p:cNvPr>
          <p:cNvSpPr/>
          <p:nvPr/>
        </p:nvSpPr>
        <p:spPr>
          <a:xfrm>
            <a:off x="0" y="5782614"/>
            <a:ext cx="12192000" cy="710261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E2328E4-2808-D7A0-1B98-84048152FED2}"/>
              </a:ext>
            </a:extLst>
          </p:cNvPr>
          <p:cNvSpPr/>
          <p:nvPr/>
        </p:nvSpPr>
        <p:spPr>
          <a:xfrm>
            <a:off x="8442475" y="5769821"/>
            <a:ext cx="734096" cy="710261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9CCF953-99B2-CDCA-7FE6-2BBAEFB40C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029326"/>
              </p:ext>
            </p:extLst>
          </p:nvPr>
        </p:nvGraphicFramePr>
        <p:xfrm>
          <a:off x="6946075" y="2004084"/>
          <a:ext cx="3726896" cy="2818270"/>
        </p:xfrm>
        <a:graphic>
          <a:graphicData uri="http://schemas.openxmlformats.org/drawingml/2006/table">
            <a:tbl>
              <a:tblPr/>
              <a:tblGrid>
                <a:gridCol w="1863448">
                  <a:extLst>
                    <a:ext uri="{9D8B030D-6E8A-4147-A177-3AD203B41FA5}">
                      <a16:colId xmlns:a16="http://schemas.microsoft.com/office/drawing/2014/main" val="3952097990"/>
                    </a:ext>
                  </a:extLst>
                </a:gridCol>
                <a:gridCol w="1863448">
                  <a:extLst>
                    <a:ext uri="{9D8B030D-6E8A-4147-A177-3AD203B41FA5}">
                      <a16:colId xmlns:a16="http://schemas.microsoft.com/office/drawing/2014/main" val="1163109139"/>
                    </a:ext>
                  </a:extLst>
                </a:gridCol>
              </a:tblGrid>
              <a:tr h="392418">
                <a:tc>
                  <a:txBody>
                    <a:bodyPr/>
                    <a:lstStyle/>
                    <a:p>
                      <a:r>
                        <a:rPr lang="en-IN" sz="1600" b="0" i="1">
                          <a:solidFill>
                            <a:schemeClr val="bg1"/>
                          </a:solidFill>
                          <a:latin typeface="Trebuchet MS" panose="020B0703020202090204" pitchFamily="34" charset="0"/>
                        </a:rPr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0" i="1" dirty="0">
                          <a:solidFill>
                            <a:schemeClr val="bg1"/>
                          </a:solidFill>
                          <a:latin typeface="Trebuchet MS" panose="020B0703020202090204" pitchFamily="34" charset="0"/>
                        </a:rPr>
                        <a:t>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9618329"/>
                  </a:ext>
                </a:extLst>
              </a:tr>
              <a:tr h="392418">
                <a:tc>
                  <a:txBody>
                    <a:bodyPr/>
                    <a:lstStyle/>
                    <a:p>
                      <a:r>
                        <a:rPr lang="en-IN" sz="1600" b="0" i="1" dirty="0">
                          <a:solidFill>
                            <a:schemeClr val="bg1"/>
                          </a:solidFill>
                          <a:latin typeface="Trebuchet MS" panose="020B0703020202090204" pitchFamily="34" charset="0"/>
                        </a:rPr>
                        <a:t>Bag of Words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0" i="1" dirty="0">
                          <a:solidFill>
                            <a:schemeClr val="bg1"/>
                          </a:solidFill>
                          <a:latin typeface="Trebuchet MS" panose="020B0703020202090204" pitchFamily="34" charset="0"/>
                        </a:rPr>
                        <a:t>67.4%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6314538"/>
                  </a:ext>
                </a:extLst>
              </a:tr>
              <a:tr h="392418">
                <a:tc>
                  <a:txBody>
                    <a:bodyPr/>
                    <a:lstStyle/>
                    <a:p>
                      <a:r>
                        <a:rPr lang="en-IN" sz="1600" b="0" i="1" dirty="0">
                          <a:solidFill>
                            <a:schemeClr val="bg1"/>
                          </a:solidFill>
                          <a:latin typeface="Trebuchet MS" panose="020B0703020202090204" pitchFamily="34" charset="0"/>
                        </a:rPr>
                        <a:t>VGG + SVM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0" i="1">
                          <a:solidFill>
                            <a:schemeClr val="bg1"/>
                          </a:solidFill>
                          <a:latin typeface="Trebuchet MS" panose="020B0703020202090204" pitchFamily="34" charset="0"/>
                        </a:rPr>
                        <a:t>66.31%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9086813"/>
                  </a:ext>
                </a:extLst>
              </a:tr>
              <a:tr h="392418">
                <a:tc>
                  <a:txBody>
                    <a:bodyPr/>
                    <a:lstStyle/>
                    <a:p>
                      <a:r>
                        <a:rPr lang="en-IN" sz="1600" b="0" i="1" dirty="0">
                          <a:solidFill>
                            <a:schemeClr val="bg1"/>
                          </a:solidFill>
                          <a:latin typeface="Trebuchet MS" panose="020B0703020202090204" pitchFamily="34" charset="0"/>
                        </a:rPr>
                        <a:t>Google Net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0" i="1">
                          <a:solidFill>
                            <a:schemeClr val="bg1"/>
                          </a:solidFill>
                          <a:latin typeface="Trebuchet MS" panose="020B0703020202090204" pitchFamily="34" charset="0"/>
                        </a:rPr>
                        <a:t>65.2%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0475855"/>
                  </a:ext>
                </a:extLst>
              </a:tr>
              <a:tr h="624299">
                <a:tc>
                  <a:txBody>
                    <a:bodyPr/>
                    <a:lstStyle/>
                    <a:p>
                      <a:r>
                        <a:rPr lang="en-IN" sz="1600" b="0" i="1" dirty="0">
                          <a:solidFill>
                            <a:schemeClr val="bg1"/>
                          </a:solidFill>
                          <a:latin typeface="Trebuchet MS" panose="020B0703020202090204" pitchFamily="34" charset="0"/>
                        </a:rPr>
                        <a:t>Mollahosseini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0" i="1" dirty="0">
                          <a:solidFill>
                            <a:schemeClr val="bg1"/>
                          </a:solidFill>
                          <a:latin typeface="Trebuchet MS" panose="020B0703020202090204" pitchFamily="34" charset="0"/>
                        </a:rPr>
                        <a:t>66.4%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5344022"/>
                  </a:ext>
                </a:extLst>
              </a:tr>
              <a:tr h="624299">
                <a:tc>
                  <a:txBody>
                    <a:bodyPr/>
                    <a:lstStyle/>
                    <a:p>
                      <a:r>
                        <a:rPr lang="en-IN" sz="1600" b="0" i="1" dirty="0">
                          <a:solidFill>
                            <a:schemeClr val="bg1"/>
                          </a:solidFill>
                          <a:latin typeface="Trebuchet MS" panose="020B0703020202090204" pitchFamily="34" charset="0"/>
                        </a:rPr>
                        <a:t>Your Proposed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0" i="1" dirty="0">
                          <a:solidFill>
                            <a:schemeClr val="bg1"/>
                          </a:solidFill>
                          <a:latin typeface="Trebuchet MS" panose="020B0703020202090204" pitchFamily="34" charset="0"/>
                        </a:rPr>
                        <a:t>70.02%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18435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81014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53B1D-FBD0-8A43-F244-2DDE87640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9610616-58F5-0605-294E-DA214F1109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53036" y="1825625"/>
            <a:ext cx="3685927" cy="4351338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8581DB0-FB23-6067-181B-FA1ACA68A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31DF455-99DC-21D0-0119-4750793231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404" y="1068908"/>
            <a:ext cx="10841190" cy="4720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832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600377-BE8D-92D0-B685-B4DB6ED62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44" y="0"/>
            <a:ext cx="12192000" cy="6879656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1CDE7AED-8B61-F751-44C9-3BF13ABC30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44465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05DCAE-078B-6069-0F7E-5D0B04D8C6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1808" y="1883246"/>
            <a:ext cx="7107096" cy="4780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466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4749</TotalTime>
  <Words>2104</Words>
  <Application>Microsoft Macintosh PowerPoint</Application>
  <PresentationFormat>Widescreen</PresentationFormat>
  <Paragraphs>374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Gill Sans Ultra Bold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harsha vardhan</dc:creator>
  <cp:lastModifiedBy>harsha vardhan</cp:lastModifiedBy>
  <cp:revision>128</cp:revision>
  <dcterms:created xsi:type="dcterms:W3CDTF">2023-10-17T16:04:18Z</dcterms:created>
  <dcterms:modified xsi:type="dcterms:W3CDTF">2025-12-03T17:17:35Z</dcterms:modified>
</cp:coreProperties>
</file>